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00" r:id="rId3"/>
    <p:sldId id="301" r:id="rId4"/>
    <p:sldId id="302" r:id="rId5"/>
    <p:sldId id="306" r:id="rId6"/>
    <p:sldId id="307" r:id="rId7"/>
    <p:sldId id="265" r:id="rId8"/>
    <p:sldId id="309" r:id="rId9"/>
    <p:sldId id="326" r:id="rId10"/>
    <p:sldId id="32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566" userDrawn="1">
          <p15:clr>
            <a:srgbClr val="A4A3A4"/>
          </p15:clr>
        </p15:guide>
        <p15:guide id="4" pos="1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6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89777"/>
  </p:normalViewPr>
  <p:slideViewPr>
    <p:cSldViewPr snapToGrid="0">
      <p:cViewPr varScale="1">
        <p:scale>
          <a:sx n="86" d="100"/>
          <a:sy n="86" d="100"/>
        </p:scale>
        <p:origin x="504" y="280"/>
      </p:cViewPr>
      <p:guideLst>
        <p:guide orient="horz" pos="3566"/>
        <p:guide pos="18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in Göhre" userId="ef6801f22ac4af39" providerId="LiveId" clId="{F07E4F2D-FB1E-48AB-8250-19E1D3328FD8}"/>
    <pc:docChg chg="custSel delSld modSld">
      <pc:chgData name="Karin Göhre" userId="ef6801f22ac4af39" providerId="LiveId" clId="{F07E4F2D-FB1E-48AB-8250-19E1D3328FD8}" dt="2026-04-19T10:19:40.517" v="16" actId="47"/>
      <pc:docMkLst>
        <pc:docMk/>
      </pc:docMkLst>
      <pc:sldChg chg="del">
        <pc:chgData name="Karin Göhre" userId="ef6801f22ac4af39" providerId="LiveId" clId="{F07E4F2D-FB1E-48AB-8250-19E1D3328FD8}" dt="2026-04-19T10:16:57.840" v="13" actId="47"/>
        <pc:sldMkLst>
          <pc:docMk/>
          <pc:sldMk cId="3133666486" sldId="257"/>
        </pc:sldMkLst>
      </pc:sldChg>
      <pc:sldChg chg="del">
        <pc:chgData name="Karin Göhre" userId="ef6801f22ac4af39" providerId="LiveId" clId="{F07E4F2D-FB1E-48AB-8250-19E1D3328FD8}" dt="2026-04-19T10:16:29.045" v="10" actId="47"/>
        <pc:sldMkLst>
          <pc:docMk/>
          <pc:sldMk cId="0" sldId="258"/>
        </pc:sldMkLst>
      </pc:sldChg>
      <pc:sldChg chg="delSp mod">
        <pc:chgData name="Karin Göhre" userId="ef6801f22ac4af39" providerId="LiveId" clId="{F07E4F2D-FB1E-48AB-8250-19E1D3328FD8}" dt="2026-04-19T10:15:36.133" v="6" actId="478"/>
        <pc:sldMkLst>
          <pc:docMk/>
          <pc:sldMk cId="0" sldId="265"/>
        </pc:sldMkLst>
        <pc:spChg chg="del">
          <ac:chgData name="Karin Göhre" userId="ef6801f22ac4af39" providerId="LiveId" clId="{F07E4F2D-FB1E-48AB-8250-19E1D3328FD8}" dt="2026-04-19T10:15:33.293" v="5" actId="478"/>
          <ac:spMkLst>
            <pc:docMk/>
            <pc:sldMk cId="0" sldId="265"/>
            <ac:spMk id="7" creationId="{84AB5753-73E1-A63D-6F0A-68393CA8DD9E}"/>
          </ac:spMkLst>
        </pc:spChg>
        <pc:spChg chg="del">
          <ac:chgData name="Karin Göhre" userId="ef6801f22ac4af39" providerId="LiveId" clId="{F07E4F2D-FB1E-48AB-8250-19E1D3328FD8}" dt="2026-04-19T10:15:36.133" v="6" actId="478"/>
          <ac:spMkLst>
            <pc:docMk/>
            <pc:sldMk cId="0" sldId="265"/>
            <ac:spMk id="8" creationId="{9A62C99C-0B16-9D1C-9951-8030C99B9CE7}"/>
          </ac:spMkLst>
        </pc:spChg>
      </pc:sldChg>
      <pc:sldChg chg="del">
        <pc:chgData name="Karin Göhre" userId="ef6801f22ac4af39" providerId="LiveId" clId="{F07E4F2D-FB1E-48AB-8250-19E1D3328FD8}" dt="2026-04-19T10:16:57.840" v="13" actId="47"/>
        <pc:sldMkLst>
          <pc:docMk/>
          <pc:sldMk cId="121508981" sldId="267"/>
        </pc:sldMkLst>
      </pc:sldChg>
      <pc:sldChg chg="del">
        <pc:chgData name="Karin Göhre" userId="ef6801f22ac4af39" providerId="LiveId" clId="{F07E4F2D-FB1E-48AB-8250-19E1D3328FD8}" dt="2026-04-19T10:16:57.840" v="13" actId="47"/>
        <pc:sldMkLst>
          <pc:docMk/>
          <pc:sldMk cId="0" sldId="269"/>
        </pc:sldMkLst>
      </pc:sldChg>
      <pc:sldChg chg="delSp mod">
        <pc:chgData name="Karin Göhre" userId="ef6801f22ac4af39" providerId="LiveId" clId="{F07E4F2D-FB1E-48AB-8250-19E1D3328FD8}" dt="2026-04-19T10:14:03.505" v="2" actId="478"/>
        <pc:sldMkLst>
          <pc:docMk/>
          <pc:sldMk cId="0" sldId="300"/>
        </pc:sldMkLst>
        <pc:spChg chg="del">
          <ac:chgData name="Karin Göhre" userId="ef6801f22ac4af39" providerId="LiveId" clId="{F07E4F2D-FB1E-48AB-8250-19E1D3328FD8}" dt="2026-04-19T10:13:59.163" v="1" actId="478"/>
          <ac:spMkLst>
            <pc:docMk/>
            <pc:sldMk cId="0" sldId="300"/>
            <ac:spMk id="18" creationId="{92BA0931-654E-1F73-9EC3-8C137CF1BD0F}"/>
          </ac:spMkLst>
        </pc:spChg>
        <pc:spChg chg="del">
          <ac:chgData name="Karin Göhre" userId="ef6801f22ac4af39" providerId="LiveId" clId="{F07E4F2D-FB1E-48AB-8250-19E1D3328FD8}" dt="2026-04-19T10:14:03.505" v="2" actId="478"/>
          <ac:spMkLst>
            <pc:docMk/>
            <pc:sldMk cId="0" sldId="300"/>
            <ac:spMk id="20" creationId="{61EE921D-7127-C8CD-76E6-86BFAF3BACD3}"/>
          </ac:spMkLst>
        </pc:spChg>
      </pc:sldChg>
      <pc:sldChg chg="del">
        <pc:chgData name="Karin Göhre" userId="ef6801f22ac4af39" providerId="LiveId" clId="{F07E4F2D-FB1E-48AB-8250-19E1D3328FD8}" dt="2026-04-19T10:19:26.721" v="14" actId="47"/>
        <pc:sldMkLst>
          <pc:docMk/>
          <pc:sldMk cId="0" sldId="303"/>
        </pc:sldMkLst>
      </pc:sldChg>
      <pc:sldChg chg="del">
        <pc:chgData name="Karin Göhre" userId="ef6801f22ac4af39" providerId="LiveId" clId="{F07E4F2D-FB1E-48AB-8250-19E1D3328FD8}" dt="2026-04-19T10:19:34.182" v="15" actId="47"/>
        <pc:sldMkLst>
          <pc:docMk/>
          <pc:sldMk cId="0" sldId="304"/>
        </pc:sldMkLst>
      </pc:sldChg>
      <pc:sldChg chg="del">
        <pc:chgData name="Karin Göhre" userId="ef6801f22ac4af39" providerId="LiveId" clId="{F07E4F2D-FB1E-48AB-8250-19E1D3328FD8}" dt="2026-04-19T10:19:40.517" v="16" actId="47"/>
        <pc:sldMkLst>
          <pc:docMk/>
          <pc:sldMk cId="0" sldId="305"/>
        </pc:sldMkLst>
      </pc:sldChg>
      <pc:sldChg chg="delSp mod">
        <pc:chgData name="Karin Göhre" userId="ef6801f22ac4af39" providerId="LiveId" clId="{F07E4F2D-FB1E-48AB-8250-19E1D3328FD8}" dt="2026-04-19T10:15:27.394" v="4" actId="478"/>
        <pc:sldMkLst>
          <pc:docMk/>
          <pc:sldMk cId="0" sldId="307"/>
        </pc:sldMkLst>
        <pc:spChg chg="del">
          <ac:chgData name="Karin Göhre" userId="ef6801f22ac4af39" providerId="LiveId" clId="{F07E4F2D-FB1E-48AB-8250-19E1D3328FD8}" dt="2026-04-19T10:15:27.394" v="4" actId="478"/>
          <ac:spMkLst>
            <pc:docMk/>
            <pc:sldMk cId="0" sldId="307"/>
            <ac:spMk id="62" creationId="{3807C950-E806-1483-8864-ECC395AD59FC}"/>
          </ac:spMkLst>
        </pc:spChg>
        <pc:spChg chg="del">
          <ac:chgData name="Karin Göhre" userId="ef6801f22ac4af39" providerId="LiveId" clId="{F07E4F2D-FB1E-48AB-8250-19E1D3328FD8}" dt="2026-04-19T10:15:25.759" v="3" actId="478"/>
          <ac:spMkLst>
            <pc:docMk/>
            <pc:sldMk cId="0" sldId="307"/>
            <ac:spMk id="64" creationId="{A48D9963-BACF-77B4-7889-3679B4CDC1C7}"/>
          </ac:spMkLst>
        </pc:spChg>
      </pc:sldChg>
      <pc:sldChg chg="del">
        <pc:chgData name="Karin Göhre" userId="ef6801f22ac4af39" providerId="LiveId" clId="{F07E4F2D-FB1E-48AB-8250-19E1D3328FD8}" dt="2026-04-19T10:16:57.840" v="13" actId="47"/>
        <pc:sldMkLst>
          <pc:docMk/>
          <pc:sldMk cId="0" sldId="310"/>
        </pc:sldMkLst>
      </pc:sldChg>
      <pc:sldChg chg="del">
        <pc:chgData name="Karin Göhre" userId="ef6801f22ac4af39" providerId="LiveId" clId="{F07E4F2D-FB1E-48AB-8250-19E1D3328FD8}" dt="2026-04-19T10:16:33.047" v="12" actId="47"/>
        <pc:sldMkLst>
          <pc:docMk/>
          <pc:sldMk cId="0" sldId="318"/>
        </pc:sldMkLst>
      </pc:sldChg>
      <pc:sldChg chg="del">
        <pc:chgData name="Karin Göhre" userId="ef6801f22ac4af39" providerId="LiveId" clId="{F07E4F2D-FB1E-48AB-8250-19E1D3328FD8}" dt="2026-04-19T10:16:31.073" v="11" actId="47"/>
        <pc:sldMkLst>
          <pc:docMk/>
          <pc:sldMk cId="0" sldId="319"/>
        </pc:sldMkLst>
      </pc:sldChg>
      <pc:sldChg chg="del">
        <pc:chgData name="Karin Göhre" userId="ef6801f22ac4af39" providerId="LiveId" clId="{F07E4F2D-FB1E-48AB-8250-19E1D3328FD8}" dt="2026-04-19T10:16:26.643" v="9" actId="47"/>
        <pc:sldMkLst>
          <pc:docMk/>
          <pc:sldMk cId="1002216126" sldId="320"/>
        </pc:sldMkLst>
      </pc:sldChg>
      <pc:sldChg chg="del">
        <pc:chgData name="Karin Göhre" userId="ef6801f22ac4af39" providerId="LiveId" clId="{F07E4F2D-FB1E-48AB-8250-19E1D3328FD8}" dt="2026-04-19T10:16:24.638" v="8" actId="47"/>
        <pc:sldMkLst>
          <pc:docMk/>
          <pc:sldMk cId="3204306173" sldId="321"/>
        </pc:sldMkLst>
      </pc:sldChg>
      <pc:sldChg chg="del">
        <pc:chgData name="Karin Göhre" userId="ef6801f22ac4af39" providerId="LiveId" clId="{F07E4F2D-FB1E-48AB-8250-19E1D3328FD8}" dt="2026-04-19T10:16:22.103" v="7" actId="47"/>
        <pc:sldMkLst>
          <pc:docMk/>
          <pc:sldMk cId="2639516782" sldId="322"/>
        </pc:sldMkLst>
      </pc:sldChg>
      <pc:sldChg chg="del">
        <pc:chgData name="Karin Göhre" userId="ef6801f22ac4af39" providerId="LiveId" clId="{F07E4F2D-FB1E-48AB-8250-19E1D3328FD8}" dt="2026-04-19T10:16:57.840" v="13" actId="47"/>
        <pc:sldMkLst>
          <pc:docMk/>
          <pc:sldMk cId="2174142868" sldId="323"/>
        </pc:sldMkLst>
      </pc:sldChg>
      <pc:sldChg chg="del">
        <pc:chgData name="Karin Göhre" userId="ef6801f22ac4af39" providerId="LiveId" clId="{F07E4F2D-FB1E-48AB-8250-19E1D3328FD8}" dt="2026-04-19T10:16:57.840" v="13" actId="47"/>
        <pc:sldMkLst>
          <pc:docMk/>
          <pc:sldMk cId="914453469" sldId="325"/>
        </pc:sldMkLst>
      </pc:sldChg>
      <pc:sldChg chg="del">
        <pc:chgData name="Karin Göhre" userId="ef6801f22ac4af39" providerId="LiveId" clId="{F07E4F2D-FB1E-48AB-8250-19E1D3328FD8}" dt="2026-04-19T10:13:54.469" v="0" actId="47"/>
        <pc:sldMkLst>
          <pc:docMk/>
          <pc:sldMk cId="2694086616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1A74B-37DB-BF4D-B8BD-52E4C26C4242}" type="datetimeFigureOut">
              <a:rPr lang="de-DE" smtClean="0"/>
              <a:t>19.04.2026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A0282-E143-7D4F-8CE2-DB2047432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51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38FE-080E-75CF-407A-315FA129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2E37A-8D8F-D94B-46A8-E9E0C8C47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0120D-CC1D-57A2-D815-B9BBB6B42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80578-B692-C21D-116D-B97693FA5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91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D0232-6989-66CB-C0B0-28C334F2C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305D51-5668-F9E2-4B38-A9405442A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840053-757E-E06A-6BAE-20937ED5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2A5-0B23-A547-BE28-A8AD2B6DF3C7}" type="datetime1">
              <a:rPr lang="de-DE" smtClean="0"/>
              <a:t>19.04.2026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C404B8-7A7E-6EAA-8847-AE2F7F72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CFF608-EADD-297D-09C0-5C42EDCCE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49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125C7-E74A-E6F1-B06E-4F81708F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11CFE9-09AC-8FB2-1F07-B162BC70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A1A963-FAAE-879A-7216-6ED46B9CB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AC8F5-827C-CE4B-98FE-85B2D6F31F0F}" type="datetime1">
              <a:rPr lang="de-DE" smtClean="0"/>
              <a:t>19.04.2026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C4347C-885C-E235-69B3-958715F5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179252-1B2B-0DFE-F84A-091E661B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221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C0CC0-ECB0-C267-18E1-E3145163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1A9F2C-0131-8DBA-EBC4-2D89E1618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C7AEE0-8DBF-0FF6-2BDA-3DAF7D4B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ECDBC-B982-4148-AC6E-6A2D551E7757}" type="datetime1">
              <a:rPr lang="de-DE" smtClean="0"/>
              <a:t>19.04.2026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DDF78C-180B-A8A4-1049-9C9BFB0D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3F6B46-ABBE-4E0B-9048-041D7789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2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4E378C-04B9-C4D1-454D-30E2DE9A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1CFCC3-EAB5-0E53-2861-CF74895AF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BB85CE-829B-D37E-5AC5-524EEE030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45CAB6-4592-FB65-2790-27F4DDEC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C4480-AD39-2C4E-88E2-EE9B56FE36FD}" type="datetime1">
              <a:rPr lang="de-DE" smtClean="0"/>
              <a:t>19.04.2026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B5BC72-AD0D-E9E7-0537-2189D738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4EB802-2A39-70F4-3539-E6FC4576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080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262DE9-A430-617B-70D9-0B485518C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6BD4F6-2A09-A9BA-23B6-1267D4C87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868834-572F-EB74-0BEE-D694ABD29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AEB322-4146-D8F1-9ED4-387F04B52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D9C30A-32C8-00B7-48FB-4E40BB44D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A94924-46FA-3A1D-1141-399569CB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CFED5-899E-B644-A9AA-952CBF3D8D0A}" type="datetime1">
              <a:rPr lang="de-DE" smtClean="0"/>
              <a:t>19.04.2026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5B2DDFB-6F80-0D8C-6A59-5757685D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087D253-2EB0-9D6D-A6CF-B9DAA0EE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87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7BCBD8-8AFD-070E-782E-243B36F2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6F09EA6-BFEE-1207-F40F-69065709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644D-6D35-444B-ABF4-FEA219505CDB}" type="datetime1">
              <a:rPr lang="de-DE" smtClean="0"/>
              <a:t>19.04.2026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48D7A0-565E-A8A0-D17C-5F1BB9A3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4365E1-6BF5-C86E-9C7C-97E49200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27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88EDAA8-A22D-5DBE-BA4F-21F00AB85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C5FE-9614-6248-8F95-D32D8AA01A6B}" type="datetime1">
              <a:rPr lang="de-DE" smtClean="0"/>
              <a:t>19.04.2026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77C52E-CA60-578F-A915-1819B581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ED5C4-82DB-A706-5E9D-7FCE01AB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5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09AB5-298E-9E8E-C376-DEBBB065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67AA6F-1CA5-5615-B5BF-FD20D512A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884AAD-09F0-57D9-B72D-62819B074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9F4777-6D26-ED5E-7128-24B19074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5B3A-D6B2-294B-A730-1C78297B6772}" type="datetime1">
              <a:rPr lang="de-DE" smtClean="0"/>
              <a:t>19.04.2026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601C8D-F5E7-587B-4E26-03D994C0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831225-DB06-4EF4-F168-04A0601D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60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DDEC0-6808-01E2-C76D-EB9CC8E6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B67B29-293C-8AA7-7465-E0FCDED3E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C6E4FD-71EB-BF27-7BAD-D36C9FBCD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751157-C835-8AEC-586F-904568A4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732AB-8E4B-8340-AC40-608B45201FF6}" type="datetime1">
              <a:rPr lang="de-DE" smtClean="0"/>
              <a:t>19.04.2026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C40AB0-3149-005A-EBDA-98A759092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F07743-EEC0-D719-C722-7BD4ECB5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024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57CA10-716B-41F7-66C9-73CE38C4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9D2EC7-CEBB-848A-585F-1FC1EAA1B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70EE81-2FA9-AAEC-F2B0-A1A4A98D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30D1-FA2B-5241-B864-192D0420E40F}" type="datetime1">
              <a:rPr lang="de-DE" smtClean="0"/>
              <a:t>19.04.2026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D8FB43-584C-9B99-577F-391147002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257C64-3585-0CB0-527B-A2ABEA1C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320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D123310-F5EE-9F41-FCFB-C46F6A96EE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5CAFD3-6F81-7D04-1FBC-F8B6218AA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7211B8-C1A5-F343-4806-01AB2040C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5B14-26E3-C942-8617-EC94DD65CC11}" type="datetime1">
              <a:rPr lang="de-DE" smtClean="0"/>
              <a:t>19.04.2026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7C0465-A8FD-0116-E020-B42D0BD9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B6D920-6B53-C938-2E94-C61D69A7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280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42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977FDAC-C199-8252-CEF1-333DCA33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048C25-E041-E645-878E-3A3D351F5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2CE1E1-1B34-5F5B-FC23-32FD6EA73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6AF2A-E715-0E4A-978B-029D61AC68BB}" type="datetime1">
              <a:rPr lang="de-DE" smtClean="0"/>
              <a:t>19.04.2026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B3C0BF-C7B2-C111-5BD4-7AD53C1BD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9A68B7-8A18-594B-E372-4BEF28D98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2A515-BE5A-824D-9F25-CBA276DE87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32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2CC73AE-39BB-0581-2F43-112FE8D64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4800" noProof="1">
                <a:solidFill>
                  <a:schemeClr val="bg1"/>
                </a:solidFill>
              </a:rPr>
              <a:t>4ward evolution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DE36F74-E9FB-6B64-43AC-CFC6FED18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r>
              <a:rPr lang="en-US" noProof="1">
                <a:solidFill>
                  <a:schemeClr val="bg1"/>
                </a:solidFill>
              </a:rPr>
              <a:t>We do not transform your company. </a:t>
            </a:r>
          </a:p>
          <a:p>
            <a:r>
              <a:rPr lang="en-US" noProof="1">
                <a:solidFill>
                  <a:schemeClr val="bg1"/>
                </a:solidFill>
              </a:rPr>
              <a:t>We empower you to do it yourself.</a:t>
            </a:r>
          </a:p>
        </p:txBody>
      </p:sp>
    </p:spTree>
    <p:extLst>
      <p:ext uri="{BB962C8B-B14F-4D97-AF65-F5344CB8AC3E}">
        <p14:creationId xmlns:p14="http://schemas.microsoft.com/office/powerpoint/2010/main" val="419652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26822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17556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33"/>
          </a:p>
        </p:txBody>
      </p:sp>
      <p:sp>
        <p:nvSpPr>
          <p:cNvPr id="4" name="Text 2"/>
          <p:cNvSpPr/>
          <p:nvPr/>
        </p:nvSpPr>
        <p:spPr>
          <a:xfrm>
            <a:off x="426720" y="448953"/>
            <a:ext cx="1133856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face increasing pressure in a more complex and unpredictable environment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26720" y="1609344"/>
            <a:ext cx="4998720" cy="468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4754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change in a BANI* world: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48640" y="1950720"/>
            <a:ext cx="4876800" cy="6705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142875" indent="-14287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factors: globalization, AI, pandemics, wars, taxes</a:t>
            </a:r>
            <a:endParaRPr lang="en-US" sz="1400"/>
          </a:p>
          <a:p>
            <a:pPr marL="142875" indent="-14287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factors: patents, cash flow, bureaucracy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48640" y="2983694"/>
            <a:ext cx="4754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 for organizations: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" y="3251918"/>
            <a:ext cx="4754880" cy="13411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187325" indent="-18732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customer and innovation demands</a:t>
            </a:r>
            <a:endParaRPr lang="en-US" sz="1400"/>
          </a:p>
          <a:p>
            <a:pPr marL="187325" indent="-18732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cost and time pressure</a:t>
            </a:r>
            <a:endParaRPr lang="en-US" sz="1400"/>
          </a:p>
          <a:p>
            <a:pPr marL="187325" indent="-18732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regulatory requirements</a:t>
            </a:r>
            <a:endParaRPr lang="en-US" sz="1400"/>
          </a:p>
          <a:p>
            <a:pPr marL="187325" indent="-18732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operational complexity</a:t>
            </a:r>
            <a:endParaRPr lang="en-US" sz="1400"/>
          </a:p>
          <a:p>
            <a:pPr marL="187325" indent="-18732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pressure and change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5083932"/>
            <a:ext cx="4754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Demands on organizations: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48640" y="5352156"/>
            <a:ext cx="4932000" cy="4267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187325" indent="-18732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quality, efficiency, and innovation – all at the same time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590032" y="3474910"/>
            <a:ext cx="463296" cy="463296"/>
          </a:xfrm>
          <a:prstGeom prst="homePlate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3" name="Shape 11"/>
          <p:cNvSpPr/>
          <p:nvPr/>
        </p:nvSpPr>
        <p:spPr>
          <a:xfrm>
            <a:off x="6217920" y="1609344"/>
            <a:ext cx="5547360" cy="468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4" name="Text 12"/>
          <p:cNvSpPr/>
          <p:nvPr/>
        </p:nvSpPr>
        <p:spPr>
          <a:xfrm>
            <a:off x="6339840" y="1682496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complexity increases, execution becomes harder to sustain: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6339840" y="2218944"/>
            <a:ext cx="5303520" cy="188976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142875" indent="-14287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40–60% of management time spent on coordination instead of customers and innovation</a:t>
            </a:r>
            <a:endParaRPr lang="en-US" sz="1400"/>
          </a:p>
          <a:p>
            <a:pPr marL="142875" indent="-14287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loses implementation power</a:t>
            </a:r>
            <a:endParaRPr lang="en-US" sz="1400"/>
          </a:p>
          <a:p>
            <a:pPr marL="142875" indent="-14287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instead of collaboration</a:t>
            </a:r>
            <a:endParaRPr lang="en-US" sz="1400"/>
          </a:p>
          <a:p>
            <a:pPr marL="142875" indent="-14287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governance, more meetings, more complexity</a:t>
            </a:r>
            <a:endParaRPr lang="en-US" sz="1400"/>
          </a:p>
          <a:p>
            <a:pPr marL="142875" indent="-142875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ownership and accountability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339840" y="4206240"/>
            <a:ext cx="5303520" cy="792480"/>
          </a:xfrm>
          <a:prstGeom prst="rect">
            <a:avLst/>
          </a:prstGeom>
          <a:noFill/>
          <a:ln/>
        </p:spPr>
        <p:txBody>
          <a:bodyPr wrap="square" lIns="67733" tIns="101600" rIns="101600" bIns="67733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consequence is more reactive behavior – driven by risk aversion, fear of failure, and increased coordination instead of responsibility.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426720" y="6559296"/>
            <a:ext cx="11338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>
                <a:solidFill>
                  <a:srgbClr val="7F8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*BANI: brittle, anxious, nonlinear, incomprehensible</a:t>
            </a:r>
            <a:endParaRPr lang="en-US" sz="100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B543382B-07D0-2D5C-27F6-46C7B13EB587}"/>
              </a:ext>
            </a:extLst>
          </p:cNvPr>
          <p:cNvSpPr/>
          <p:nvPr/>
        </p:nvSpPr>
        <p:spPr>
          <a:xfrm>
            <a:off x="426720" y="1292733"/>
            <a:ext cx="11558016" cy="24384"/>
          </a:xfrm>
          <a:prstGeom prst="rect">
            <a:avLst/>
          </a:prstGeom>
          <a:solidFill>
            <a:srgbClr val="D0E8E8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26822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17556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933"/>
          </a:p>
        </p:txBody>
      </p:sp>
      <p:sp>
        <p:nvSpPr>
          <p:cNvPr id="4" name="Text 2"/>
          <p:cNvSpPr/>
          <p:nvPr/>
        </p:nvSpPr>
        <p:spPr>
          <a:xfrm>
            <a:off x="426720" y="459710"/>
            <a:ext cx="1133856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reactive, siloed control to adaptive, value-creation–aligned organizations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535681" y="1465790"/>
            <a:ext cx="5040000" cy="226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" name="Text 4"/>
          <p:cNvSpPr/>
          <p:nvPr/>
        </p:nvSpPr>
        <p:spPr>
          <a:xfrm>
            <a:off x="3657600" y="1523568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an organization where…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657600" y="1771425"/>
            <a:ext cx="5299364" cy="1926336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142875" indent="-14287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mission is always at the forefront</a:t>
            </a:r>
            <a:endParaRPr lang="en-US" sz="1400"/>
          </a:p>
          <a:p>
            <a:pPr marL="142875" indent="-14287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act in a mindset that enables true innovation</a:t>
            </a:r>
            <a:endParaRPr lang="en-US" sz="1400"/>
          </a:p>
          <a:p>
            <a:pPr marL="142875" indent="-14287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decisions are made by the teams doing the work</a:t>
            </a:r>
            <a:endParaRPr lang="en-US" sz="1400"/>
          </a:p>
          <a:p>
            <a:pPr marL="142875" indent="-14287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are organized around the customer – not hierarchy</a:t>
            </a:r>
            <a:endParaRPr lang="en-US" sz="1400"/>
          </a:p>
          <a:p>
            <a:pPr marL="142875" indent="-14287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act as coaches, not controllers</a:t>
            </a:r>
            <a:endParaRPr lang="en-US" sz="1400"/>
          </a:p>
          <a:p>
            <a:pPr marL="142875" indent="-14287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cycles as fast as 90 days</a:t>
            </a:r>
            <a:endParaRPr lang="en-US" sz="1400"/>
          </a:p>
          <a:p>
            <a:pPr marL="142875" indent="-14287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of a multinational with the speed of a start-up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669280" y="4120481"/>
            <a:ext cx="6096000" cy="21196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A8D0D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0" name="Shape 8"/>
          <p:cNvSpPr/>
          <p:nvPr/>
        </p:nvSpPr>
        <p:spPr>
          <a:xfrm>
            <a:off x="5669280" y="4120481"/>
            <a:ext cx="6096000" cy="316992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1" name="Text 9"/>
          <p:cNvSpPr/>
          <p:nvPr/>
        </p:nvSpPr>
        <p:spPr>
          <a:xfrm>
            <a:off x="5766816" y="4120481"/>
            <a:ext cx="5974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 ADAPTIVE MODEL WHERE …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791200" y="4449170"/>
            <a:ext cx="5852160" cy="1975104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show up as our best selves in a creative mindset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focus on beneficial outcomes for all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organize in networks of entrepreneurial teams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execute, explore, and learn in rapid cycles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create new value by reimagining the system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by a new leadership approach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243840" y="4120481"/>
            <a:ext cx="5303520" cy="21196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4" name="Shape 12"/>
          <p:cNvSpPr/>
          <p:nvPr/>
        </p:nvSpPr>
        <p:spPr>
          <a:xfrm>
            <a:off x="243840" y="4120481"/>
            <a:ext cx="5303520" cy="316992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5" name="Text 13"/>
          <p:cNvSpPr/>
          <p:nvPr/>
        </p:nvSpPr>
        <p:spPr>
          <a:xfrm>
            <a:off x="341376" y="4120481"/>
            <a:ext cx="5181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TRADITIONAL MANAGEMENT SYSTEM WHERE …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65760" y="4412099"/>
            <a:ext cx="5059680" cy="1568571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meet our bosses' expectations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focus on shareholder value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operate in siloed hierarchies of individuals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get work done through detailed planning and control</a:t>
            </a:r>
            <a:endParaRPr lang="en-US" sz="1400"/>
          </a:p>
          <a:p>
            <a:pPr marL="187325" indent="-187325"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we create value by capturing existing value</a:t>
            </a:r>
            <a:endParaRPr lang="en-US" sz="140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EBDC53F-B31E-E176-680A-3E51725DBD0E}"/>
              </a:ext>
            </a:extLst>
          </p:cNvPr>
          <p:cNvSpPr/>
          <p:nvPr/>
        </p:nvSpPr>
        <p:spPr>
          <a:xfrm>
            <a:off x="426720" y="1292733"/>
            <a:ext cx="11558016" cy="24384"/>
          </a:xfrm>
          <a:prstGeom prst="rect">
            <a:avLst/>
          </a:prstGeom>
          <a:solidFill>
            <a:srgbClr val="D0E8E8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8" name="Rechtwinkliges Dreieck 17">
            <a:extLst>
              <a:ext uri="{FF2B5EF4-FFF2-40B4-BE49-F238E27FC236}">
                <a16:creationId xmlns:a16="http://schemas.microsoft.com/office/drawing/2014/main" id="{5A5D566A-0E4D-6666-6682-1F77CEF80A5E}"/>
              </a:ext>
            </a:extLst>
          </p:cNvPr>
          <p:cNvSpPr/>
          <p:nvPr/>
        </p:nvSpPr>
        <p:spPr>
          <a:xfrm rot="18973262">
            <a:off x="6252271" y="3625237"/>
            <a:ext cx="360000" cy="3600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26822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17556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</a:t>
            </a:r>
            <a:endParaRPr lang="en-US" sz="933"/>
          </a:p>
        </p:txBody>
      </p:sp>
      <p:sp>
        <p:nvSpPr>
          <p:cNvPr id="4" name="Text 2"/>
          <p:cNvSpPr/>
          <p:nvPr/>
        </p:nvSpPr>
        <p:spPr>
          <a:xfrm>
            <a:off x="426720" y="470472"/>
            <a:ext cx="1133856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theory – it has been implemented at scale at Bayer AG</a:t>
            </a:r>
            <a:endParaRPr lang="en-US" sz="2800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6A63EF1D-8570-983F-A8E3-8D3493ECE06B}"/>
              </a:ext>
            </a:extLst>
          </p:cNvPr>
          <p:cNvGrpSpPr/>
          <p:nvPr/>
        </p:nvGrpSpPr>
        <p:grpSpPr>
          <a:xfrm>
            <a:off x="426720" y="1560576"/>
            <a:ext cx="11338560" cy="1260000"/>
            <a:chOff x="426720" y="1560576"/>
            <a:chExt cx="11338560" cy="1260000"/>
          </a:xfrm>
        </p:grpSpPr>
        <p:sp>
          <p:nvSpPr>
            <p:cNvPr id="5" name="Shape 3"/>
            <p:cNvSpPr/>
            <p:nvPr/>
          </p:nvSpPr>
          <p:spPr>
            <a:xfrm>
              <a:off x="426720" y="1560576"/>
              <a:ext cx="11338560" cy="126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6" name="Shape 4"/>
            <p:cNvSpPr/>
            <p:nvPr/>
          </p:nvSpPr>
          <p:spPr>
            <a:xfrm>
              <a:off x="426720" y="1560576"/>
              <a:ext cx="11338560" cy="304800"/>
            </a:xfrm>
            <a:prstGeom prst="rect">
              <a:avLst/>
            </a:prstGeom>
            <a:solidFill>
              <a:srgbClr val="2D5157"/>
            </a:solidFill>
            <a:ln w="12700">
              <a:solidFill>
                <a:srgbClr val="2D5157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524256" y="1560576"/>
              <a:ext cx="1121664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kern="0" spc="133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COMPANY CASE</a:t>
              </a:r>
              <a:endParaRPr lang="en-US" sz="1000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1877568"/>
              <a:ext cx="11094720" cy="943008"/>
            </a:xfrm>
            <a:prstGeom prst="rect">
              <a:avLst/>
            </a:prstGeom>
            <a:noFill/>
            <a:ln/>
          </p:spPr>
          <p:txBody>
            <a:bodyPr wrap="square" lIns="50800" tIns="101600" rIns="101600" bIns="50800" rtlCol="0" anchor="ctr"/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Since mid-2023, Bayer has been implementing Dynamic Shared Ownership (DSO) and has largely completed the transition across divisions.</a:t>
              </a:r>
              <a:endParaRPr lang="en-US" sz="1200"/>
            </a:p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Since mid-2024, focus shifted to scaling impact: reducing hierarchy and bureaucracy, accelerating innovation through faster cycles and moving decisions closer to where value is created.</a:t>
              </a:r>
              <a:endParaRPr lang="en-US" sz="1200"/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999E7076-BDEE-CED1-9562-1F0BE2FAC1FC}"/>
              </a:ext>
            </a:extLst>
          </p:cNvPr>
          <p:cNvGrpSpPr/>
          <p:nvPr/>
        </p:nvGrpSpPr>
        <p:grpSpPr>
          <a:xfrm>
            <a:off x="426720" y="2919529"/>
            <a:ext cx="5425440" cy="3344189"/>
            <a:chOff x="426720" y="3141955"/>
            <a:chExt cx="5425440" cy="3344189"/>
          </a:xfrm>
        </p:grpSpPr>
        <p:sp>
          <p:nvSpPr>
            <p:cNvPr id="9" name="Shape 7"/>
            <p:cNvSpPr/>
            <p:nvPr/>
          </p:nvSpPr>
          <p:spPr>
            <a:xfrm>
              <a:off x="426720" y="3141955"/>
              <a:ext cx="5425440" cy="20116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10" name="Shape 8"/>
            <p:cNvSpPr/>
            <p:nvPr/>
          </p:nvSpPr>
          <p:spPr>
            <a:xfrm>
              <a:off x="426720" y="3141955"/>
              <a:ext cx="5425440" cy="304800"/>
            </a:xfrm>
            <a:prstGeom prst="rect">
              <a:avLst/>
            </a:prstGeom>
            <a:solidFill>
              <a:srgbClr val="2D5157"/>
            </a:solidFill>
            <a:ln w="12700">
              <a:solidFill>
                <a:srgbClr val="2D5157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11" name="Text 9"/>
            <p:cNvSpPr/>
            <p:nvPr/>
          </p:nvSpPr>
          <p:spPr>
            <a:xfrm>
              <a:off x="524256" y="3141955"/>
              <a:ext cx="53035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kern="0" spc="133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ORGANISATIONAL IMPACT</a:t>
              </a:r>
              <a:endParaRPr lang="en-US" sz="1000"/>
            </a:p>
          </p:txBody>
        </p:sp>
        <p:sp>
          <p:nvSpPr>
            <p:cNvPr id="12" name="Text 10"/>
            <p:cNvSpPr/>
            <p:nvPr/>
          </p:nvSpPr>
          <p:spPr>
            <a:xfrm>
              <a:off x="548640" y="3483331"/>
              <a:ext cx="5181600" cy="1584960"/>
            </a:xfrm>
            <a:prstGeom prst="rect">
              <a:avLst/>
            </a:prstGeom>
            <a:noFill/>
            <a:ln/>
          </p:spPr>
          <p:txBody>
            <a:bodyPr wrap="square" lIns="50800" tIns="101600" rIns="101600" bIns="50800" rtlCol="0" anchor="t"/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>
                  <a:solidFill>
                    <a:srgbClr val="2D515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Structure:</a:t>
              </a: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Clusters replace functions as home; people move into teams with flexible resource and talent flow; 1,800+ self-managed, customer- and product-focused teams</a:t>
              </a:r>
              <a:endParaRPr lang="en-US" sz="1200"/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>
                  <a:solidFill>
                    <a:srgbClr val="2D515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Speed:</a:t>
              </a: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90-day cycles shift from annual planning to iterative execution</a:t>
              </a:r>
              <a:endParaRPr lang="en-US" sz="1200"/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>
                  <a:solidFill>
                    <a:srgbClr val="2D515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Impact:</a:t>
              </a: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Reduced bureaucracy, 5–6 layers removed, evolved manager role, decisions moved to those doing the work, improved agility, productivity and employee satisfaction</a:t>
              </a:r>
              <a:endParaRPr lang="en-US" sz="1200"/>
            </a:p>
          </p:txBody>
        </p:sp>
        <p:sp>
          <p:nvSpPr>
            <p:cNvPr id="13" name="Shape 11"/>
            <p:cNvSpPr/>
            <p:nvPr/>
          </p:nvSpPr>
          <p:spPr>
            <a:xfrm>
              <a:off x="426720" y="5565346"/>
              <a:ext cx="5425440" cy="9207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14" name="Shape 12"/>
            <p:cNvSpPr/>
            <p:nvPr/>
          </p:nvSpPr>
          <p:spPr>
            <a:xfrm>
              <a:off x="426720" y="5244296"/>
              <a:ext cx="5425440" cy="304800"/>
            </a:xfrm>
            <a:prstGeom prst="rect">
              <a:avLst/>
            </a:prstGeom>
            <a:solidFill>
              <a:srgbClr val="2D5157"/>
            </a:solidFill>
            <a:ln w="12700">
              <a:solidFill>
                <a:srgbClr val="2D5157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15" name="Text 13"/>
            <p:cNvSpPr/>
            <p:nvPr/>
          </p:nvSpPr>
          <p:spPr>
            <a:xfrm>
              <a:off x="524256" y="5260546"/>
              <a:ext cx="53035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kern="0" spc="133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IMPACT</a:t>
              </a:r>
              <a:endParaRPr lang="en-US" sz="1000"/>
            </a:p>
          </p:txBody>
        </p:sp>
        <p:sp>
          <p:nvSpPr>
            <p:cNvPr id="16" name="Text 14"/>
            <p:cNvSpPr/>
            <p:nvPr/>
          </p:nvSpPr>
          <p:spPr>
            <a:xfrm>
              <a:off x="479730" y="5565346"/>
              <a:ext cx="5181600" cy="755904"/>
            </a:xfrm>
            <a:prstGeom prst="rect">
              <a:avLst/>
            </a:prstGeom>
            <a:noFill/>
            <a:ln/>
          </p:spPr>
          <p:txBody>
            <a:bodyPr wrap="square" lIns="50800" tIns="101600" rIns="101600" bIns="50800" rtlCol="0" anchor="t"/>
            <a:lstStyle/>
            <a:p>
              <a:pPr>
                <a:lnSpc>
                  <a:spcPct val="115000"/>
                </a:lnSpc>
                <a:spcAft>
                  <a:spcPts val="267"/>
                </a:spcAft>
                <a:buSzPct val="100000"/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~€ 500 million savings already realized</a:t>
              </a:r>
              <a:endParaRPr lang="en-US" sz="1200"/>
            </a:p>
            <a:p>
              <a:pPr>
                <a:lnSpc>
                  <a:spcPct val="115000"/>
                </a:lnSpc>
                <a:spcAft>
                  <a:spcPts val="267"/>
                </a:spcAft>
                <a:buSzPct val="100000"/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~€ 800 million expected</a:t>
              </a:r>
              <a:endParaRPr lang="en-US" sz="1200"/>
            </a:p>
            <a:p>
              <a:pPr>
                <a:lnSpc>
                  <a:spcPct val="115000"/>
                </a:lnSpc>
                <a:spcAft>
                  <a:spcPts val="267"/>
                </a:spcAft>
                <a:buSzPct val="100000"/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Target: €2 billion by 2026</a:t>
              </a:r>
              <a:endParaRPr lang="en-US" sz="1200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09B5891A-6DA5-06B5-8849-2B987990EB10}"/>
              </a:ext>
            </a:extLst>
          </p:cNvPr>
          <p:cNvGrpSpPr/>
          <p:nvPr/>
        </p:nvGrpSpPr>
        <p:grpSpPr>
          <a:xfrm>
            <a:off x="5974080" y="2909220"/>
            <a:ext cx="5791200" cy="3384978"/>
            <a:chOff x="5974080" y="3131646"/>
            <a:chExt cx="5791200" cy="3384978"/>
          </a:xfrm>
        </p:grpSpPr>
        <p:sp>
          <p:nvSpPr>
            <p:cNvPr id="17" name="Shape 15"/>
            <p:cNvSpPr/>
            <p:nvPr/>
          </p:nvSpPr>
          <p:spPr>
            <a:xfrm>
              <a:off x="5974080" y="3141954"/>
              <a:ext cx="5791200" cy="33441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18" name="Shape 16"/>
            <p:cNvSpPr/>
            <p:nvPr/>
          </p:nvSpPr>
          <p:spPr>
            <a:xfrm>
              <a:off x="5974080" y="3131646"/>
              <a:ext cx="5791200" cy="304800"/>
            </a:xfrm>
            <a:prstGeom prst="rect">
              <a:avLst/>
            </a:prstGeom>
            <a:solidFill>
              <a:srgbClr val="2D5157"/>
            </a:solidFill>
            <a:ln w="12700">
              <a:solidFill>
                <a:srgbClr val="2D5157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19" name="Text 17"/>
            <p:cNvSpPr/>
            <p:nvPr/>
          </p:nvSpPr>
          <p:spPr>
            <a:xfrm>
              <a:off x="6035040" y="3141955"/>
              <a:ext cx="566928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 kern="0" spc="133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EVOLVED LEADERSHIP APPROACH</a:t>
              </a:r>
              <a:endParaRPr lang="en-US" sz="1000"/>
            </a:p>
          </p:txBody>
        </p:sp>
        <p:sp>
          <p:nvSpPr>
            <p:cNvPr id="20" name="Text 18"/>
            <p:cNvSpPr/>
            <p:nvPr/>
          </p:nvSpPr>
          <p:spPr>
            <a:xfrm>
              <a:off x="6071616" y="3430982"/>
              <a:ext cx="5547360" cy="731520"/>
            </a:xfrm>
            <a:prstGeom prst="rect">
              <a:avLst/>
            </a:prstGeom>
            <a:noFill/>
            <a:ln/>
          </p:spPr>
          <p:txBody>
            <a:bodyPr wrap="square" lIns="33867" tIns="67733" rIns="67733" bIns="33867" rtlCol="0" anchor="ctr"/>
            <a:lstStyle/>
            <a:p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Leadership teams set direction, enable resource flow, and coach teams – rather than making day-to-day decisions.</a:t>
              </a:r>
              <a:endParaRPr lang="en-US" sz="1200"/>
            </a:p>
            <a:p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Leaders shift from planners, directors, and controllers to new roles:</a:t>
              </a:r>
              <a:endParaRPr lang="en-US" sz="1200"/>
            </a:p>
          </p:txBody>
        </p:sp>
        <p:sp>
          <p:nvSpPr>
            <p:cNvPr id="21" name="Text 19"/>
            <p:cNvSpPr/>
            <p:nvPr/>
          </p:nvSpPr>
          <p:spPr>
            <a:xfrm>
              <a:off x="6096000" y="4255730"/>
              <a:ext cx="1219200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>
                  <a:solidFill>
                    <a:srgbClr val="2D515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Visionaries</a:t>
              </a:r>
              <a:endParaRPr lang="en-US" sz="1200"/>
            </a:p>
          </p:txBody>
        </p:sp>
        <p:sp>
          <p:nvSpPr>
            <p:cNvPr id="22" name="Text 20"/>
            <p:cNvSpPr/>
            <p:nvPr/>
          </p:nvSpPr>
          <p:spPr>
            <a:xfrm>
              <a:off x="6965341" y="4125103"/>
              <a:ext cx="426720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5000"/>
                </a:lnSpc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shaping a clear and compelling mission</a:t>
              </a:r>
              <a:endParaRPr lang="en-US" sz="1200"/>
            </a:p>
          </p:txBody>
        </p:sp>
        <p:sp>
          <p:nvSpPr>
            <p:cNvPr id="23" name="Text 21"/>
            <p:cNvSpPr/>
            <p:nvPr/>
          </p:nvSpPr>
          <p:spPr>
            <a:xfrm>
              <a:off x="6096000" y="4523235"/>
              <a:ext cx="1219200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>
                  <a:solidFill>
                    <a:srgbClr val="2D515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Architects</a:t>
              </a:r>
              <a:endParaRPr lang="en-US" sz="1200"/>
            </a:p>
          </p:txBody>
        </p:sp>
        <p:sp>
          <p:nvSpPr>
            <p:cNvPr id="24" name="Text 22"/>
            <p:cNvSpPr/>
            <p:nvPr/>
          </p:nvSpPr>
          <p:spPr>
            <a:xfrm>
              <a:off x="6965341" y="4392608"/>
              <a:ext cx="426720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5000"/>
                </a:lnSpc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building systems that focus and motivate teams to create value</a:t>
              </a:r>
              <a:endParaRPr lang="en-US" sz="1200"/>
            </a:p>
          </p:txBody>
        </p:sp>
        <p:sp>
          <p:nvSpPr>
            <p:cNvPr id="25" name="Text 23"/>
            <p:cNvSpPr/>
            <p:nvPr/>
          </p:nvSpPr>
          <p:spPr>
            <a:xfrm>
              <a:off x="6096000" y="4812254"/>
              <a:ext cx="1219200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>
                  <a:solidFill>
                    <a:srgbClr val="2D515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Catalysts</a:t>
              </a:r>
              <a:endParaRPr lang="en-US" sz="1200"/>
            </a:p>
          </p:txBody>
        </p:sp>
        <p:sp>
          <p:nvSpPr>
            <p:cNvPr id="26" name="Text 24"/>
            <p:cNvSpPr/>
            <p:nvPr/>
          </p:nvSpPr>
          <p:spPr>
            <a:xfrm>
              <a:off x="6965341" y="4681627"/>
              <a:ext cx="426720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5000"/>
                </a:lnSpc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enabling energy, collaboration, and empowered networks</a:t>
              </a:r>
              <a:endParaRPr lang="en-US" sz="1200"/>
            </a:p>
          </p:txBody>
        </p:sp>
        <p:sp>
          <p:nvSpPr>
            <p:cNvPr id="27" name="Text 25"/>
            <p:cNvSpPr/>
            <p:nvPr/>
          </p:nvSpPr>
          <p:spPr>
            <a:xfrm>
              <a:off x="6096000" y="5079758"/>
              <a:ext cx="1219200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>
                  <a:solidFill>
                    <a:srgbClr val="2D515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Coaches</a:t>
              </a:r>
              <a:endParaRPr lang="en-US" sz="1200"/>
            </a:p>
          </p:txBody>
        </p:sp>
        <p:sp>
          <p:nvSpPr>
            <p:cNvPr id="28" name="Text 26"/>
            <p:cNvSpPr/>
            <p:nvPr/>
          </p:nvSpPr>
          <p:spPr>
            <a:xfrm>
              <a:off x="6965341" y="4959892"/>
              <a:ext cx="426720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5000"/>
                </a:lnSpc>
              </a:pPr>
              <a:r>
                <a:rPr lang="en-US" sz="1200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fostering continuous learning and development in rapid cycles</a:t>
              </a:r>
              <a:endParaRPr lang="en-US" sz="1200"/>
            </a:p>
          </p:txBody>
        </p:sp>
        <p:sp>
          <p:nvSpPr>
            <p:cNvPr id="29" name="Text 27"/>
            <p:cNvSpPr/>
            <p:nvPr/>
          </p:nvSpPr>
          <p:spPr>
            <a:xfrm>
              <a:off x="6096000" y="5846064"/>
              <a:ext cx="5547360" cy="670560"/>
            </a:xfrm>
            <a:prstGeom prst="rect">
              <a:avLst/>
            </a:prstGeom>
            <a:noFill/>
            <a:ln/>
          </p:spPr>
          <p:txBody>
            <a:bodyPr wrap="square" lIns="33867" tIns="67733" rIns="67733" bIns="33867" rtlCol="0" anchor="ctr"/>
            <a:lstStyle/>
            <a:p>
              <a:r>
                <a:rPr lang="en-US" sz="1200" i="1">
                  <a:solidFill>
                    <a:srgbClr val="4040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Through feedback, retrospectives and mentoring, leaders help teams  to create value for customers and stakeholders.</a:t>
              </a:r>
              <a:endParaRPr lang="en-US" sz="1200"/>
            </a:p>
          </p:txBody>
        </p:sp>
      </p:grpSp>
      <p:sp>
        <p:nvSpPr>
          <p:cNvPr id="30" name="Text 28"/>
          <p:cNvSpPr/>
          <p:nvPr/>
        </p:nvSpPr>
        <p:spPr>
          <a:xfrm>
            <a:off x="426720" y="6559296"/>
            <a:ext cx="11338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Havard Business Review December 2025, Corporate Bayer Website </a:t>
            </a:r>
            <a:endParaRPr lang="en-US" sz="10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D3F85F8C-4762-97AA-2449-34DE4196CE58}"/>
              </a:ext>
            </a:extLst>
          </p:cNvPr>
          <p:cNvSpPr/>
          <p:nvPr/>
        </p:nvSpPr>
        <p:spPr>
          <a:xfrm>
            <a:off x="426720" y="1292654"/>
            <a:ext cx="11558016" cy="24384"/>
          </a:xfrm>
          <a:prstGeom prst="rect">
            <a:avLst/>
          </a:prstGeom>
          <a:solidFill>
            <a:srgbClr val="D0E8E8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26822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17556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</a:t>
            </a:r>
            <a:endParaRPr lang="en-US" sz="933"/>
          </a:p>
        </p:txBody>
      </p:sp>
      <p:sp>
        <p:nvSpPr>
          <p:cNvPr id="4" name="Text 2"/>
          <p:cNvSpPr/>
          <p:nvPr/>
        </p:nvSpPr>
        <p:spPr>
          <a:xfrm>
            <a:off x="426720" y="477303"/>
            <a:ext cx="1133856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4ward evolution: We don't transform your company. We enable you to do it yourself.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414528" y="1524550"/>
            <a:ext cx="11338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strengthen organizations' ability to perform under pressure by enabling self-managed teams to make faster, better decisions, reduce complexity and improve business performance.</a:t>
            </a:r>
            <a:endParaRPr lang="en-US" sz="14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2231856"/>
            <a:ext cx="3694176" cy="43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7" name="Shape 5"/>
          <p:cNvSpPr/>
          <p:nvPr/>
        </p:nvSpPr>
        <p:spPr>
          <a:xfrm>
            <a:off x="426720" y="2231856"/>
            <a:ext cx="3694176" cy="304800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8" name="Text 6"/>
          <p:cNvSpPr/>
          <p:nvPr/>
        </p:nvSpPr>
        <p:spPr>
          <a:xfrm>
            <a:off x="524256" y="2231856"/>
            <a:ext cx="357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48640" y="2573232"/>
            <a:ext cx="3511296" cy="3950208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mindset shift: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Leaders move from reactive to creative – improving leadership effectiveness and business impact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decisions: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Personal responsibility, decision quality and emotional intelligence increase across teams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teams: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Decisions made where value is created, not escalated through hierarchy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bureaucracy: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Simpler processes, clearer responsibilities, faster execution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collaboration: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Cross-functional teams move ideas into implementation faster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performance: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Managed through a small number of KPIs – results without compromising stability or compliance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206240" y="2231856"/>
            <a:ext cx="3694176" cy="432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A8D0D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1" name="Shape 9"/>
          <p:cNvSpPr/>
          <p:nvPr/>
        </p:nvSpPr>
        <p:spPr>
          <a:xfrm>
            <a:off x="4206240" y="2231856"/>
            <a:ext cx="3694176" cy="304800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Text 10"/>
          <p:cNvSpPr/>
          <p:nvPr/>
        </p:nvSpPr>
        <p:spPr>
          <a:xfrm>
            <a:off x="4303776" y="2231856"/>
            <a:ext cx="357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328160" y="2573232"/>
            <a:ext cx="3511296" cy="3950208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by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directly with leaders and teams in their day-to-day reality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measurable results – not frameworks or slide decks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decision-making, ownership and accountability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work happens</a:t>
            </a:r>
            <a:endParaRPr lang="en-US" sz="1300" b="1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teams 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clarifying purpose, outcomes, roles and collaboration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formats 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from focused workshops to multi-week transformation programs and/or coaching and consulting projects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7985760" y="2231856"/>
            <a:ext cx="3694176" cy="432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5" name="Shape 13"/>
          <p:cNvSpPr/>
          <p:nvPr/>
        </p:nvSpPr>
        <p:spPr>
          <a:xfrm>
            <a:off x="7985760" y="2231856"/>
            <a:ext cx="3694176" cy="304800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6" name="Text 14"/>
          <p:cNvSpPr/>
          <p:nvPr/>
        </p:nvSpPr>
        <p:spPr>
          <a:xfrm>
            <a:off x="8083296" y="2231856"/>
            <a:ext cx="357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107680" y="2573232"/>
            <a:ext cx="3535680" cy="3950208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founders with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pharmaceutical industry 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experience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combined with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</a:t>
            </a:r>
            <a:endParaRPr lang="en-US" sz="1300" b="1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Shaped and accompanied the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industrial transformation 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history</a:t>
            </a:r>
            <a:endParaRPr lang="en-US" sz="130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Hands-on, agile ways of working – translating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r>
              <a:rPr lang="en-US" sz="13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practical </a:t>
            </a:r>
            <a:r>
              <a:rPr lang="en-US" sz="13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F7E4AF1D-6886-35C2-A8F3-2CDB8ED61605}"/>
              </a:ext>
            </a:extLst>
          </p:cNvPr>
          <p:cNvSpPr/>
          <p:nvPr/>
        </p:nvSpPr>
        <p:spPr>
          <a:xfrm>
            <a:off x="426720" y="1304925"/>
            <a:ext cx="11558016" cy="24384"/>
          </a:xfrm>
          <a:prstGeom prst="rect">
            <a:avLst/>
          </a:prstGeom>
          <a:solidFill>
            <a:srgbClr val="D0E8E8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26822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17556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OFFERING</a:t>
            </a:r>
            <a:endParaRPr lang="en-US" sz="933"/>
          </a:p>
        </p:txBody>
      </p:sp>
      <p:sp>
        <p:nvSpPr>
          <p:cNvPr id="4" name="Text 2"/>
          <p:cNvSpPr/>
          <p:nvPr/>
        </p:nvSpPr>
        <p:spPr>
          <a:xfrm>
            <a:off x="426720" y="477303"/>
            <a:ext cx="1133856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enable: 5 dimensions of organisational effectiveness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1104" y="635896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1">
                <a:solidFill>
                  <a:schemeClr val="accent5"/>
                </a:solidFill>
              </a:rPr>
              <a:t>Each dimension is addressable standalone, as a modular workshop or as part of a complete transformation journey — tailored to your context and scale. </a:t>
            </a:r>
          </a:p>
          <a:p>
            <a:r>
              <a:rPr lang="en-US" sz="1200" i="1" noProof="1">
                <a:solidFill>
                  <a:schemeClr val="accent5"/>
                </a:solidFill>
              </a:rPr>
              <a:t>Consulting projects, Train-the-Trainer and Community Building are also available as scoped standalone engagements.</a:t>
            </a:r>
            <a:endParaRPr lang="en-US" sz="1200" i="1">
              <a:solidFill>
                <a:schemeClr val="accent5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60704" y="1221088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7F8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641711" y="1221088"/>
            <a:ext cx="34777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7F8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FORMATS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7473696" y="1233280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7F8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9795872" y="1160128"/>
            <a:ext cx="2005983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7F8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GROUP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26720" y="1489312"/>
            <a:ext cx="11362944" cy="24384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1" name="Shape 9"/>
          <p:cNvSpPr/>
          <p:nvPr/>
        </p:nvSpPr>
        <p:spPr>
          <a:xfrm>
            <a:off x="426720" y="1538080"/>
            <a:ext cx="11362944" cy="902208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Shape 10"/>
          <p:cNvSpPr/>
          <p:nvPr/>
        </p:nvSpPr>
        <p:spPr>
          <a:xfrm>
            <a:off x="451104" y="1611232"/>
            <a:ext cx="487680" cy="75590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3" name="Text 11"/>
          <p:cNvSpPr/>
          <p:nvPr/>
        </p:nvSpPr>
        <p:spPr>
          <a:xfrm>
            <a:off x="451104" y="1611232"/>
            <a:ext cx="48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67"/>
          </a:p>
        </p:txBody>
      </p:sp>
      <p:sp>
        <p:nvSpPr>
          <p:cNvPr id="14" name="Text 12"/>
          <p:cNvSpPr/>
          <p:nvPr/>
        </p:nvSpPr>
        <p:spPr>
          <a:xfrm>
            <a:off x="1024128" y="1611232"/>
            <a:ext cx="30967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&amp; Direction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1903840"/>
            <a:ext cx="259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i="1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of purpose, vision, priorities and outcomes</a:t>
            </a:r>
            <a:endParaRPr lang="en-US" sz="1067"/>
          </a:p>
        </p:txBody>
      </p:sp>
      <p:sp>
        <p:nvSpPr>
          <p:cNvPr id="16" name="Text 14"/>
          <p:cNvSpPr/>
          <p:nvPr/>
        </p:nvSpPr>
        <p:spPr>
          <a:xfrm>
            <a:off x="3657600" y="1452736"/>
            <a:ext cx="3348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&amp; Vision · Outcomes &amp; Prioritization · Strategy-to-Execution · Customer &amp; Product Centricity ·  Alignment Exercise · </a:t>
            </a:r>
            <a:r>
              <a:rPr lang="en-US" sz="1067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Projects</a:t>
            </a:r>
            <a:endParaRPr lang="en-US" sz="1067" dirty="0"/>
          </a:p>
        </p:txBody>
      </p:sp>
      <p:sp>
        <p:nvSpPr>
          <p:cNvPr id="17" name="Text 15"/>
          <p:cNvSpPr/>
          <p:nvPr/>
        </p:nvSpPr>
        <p:spPr>
          <a:xfrm>
            <a:off x="7459874" y="1452736"/>
            <a:ext cx="22320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Clarity, aligned and faster execution and resource allocation</a:t>
            </a:r>
            <a:endParaRPr lang="en-US" sz="1067"/>
          </a:p>
        </p:txBody>
      </p:sp>
      <p:sp>
        <p:nvSpPr>
          <p:cNvPr id="18" name="Text 16"/>
          <p:cNvSpPr/>
          <p:nvPr/>
        </p:nvSpPr>
        <p:spPr>
          <a:xfrm>
            <a:off x="9788378" y="1598820"/>
            <a:ext cx="1804416" cy="27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· Team · Individual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26720" y="2440288"/>
            <a:ext cx="11362944" cy="24384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0" name="Shape 18"/>
          <p:cNvSpPr/>
          <p:nvPr/>
        </p:nvSpPr>
        <p:spPr>
          <a:xfrm>
            <a:off x="426720" y="2476864"/>
            <a:ext cx="11362944" cy="902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1" name="Shape 19"/>
          <p:cNvSpPr/>
          <p:nvPr/>
        </p:nvSpPr>
        <p:spPr>
          <a:xfrm>
            <a:off x="451104" y="2550016"/>
            <a:ext cx="487680" cy="75590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2" name="Text 20"/>
          <p:cNvSpPr/>
          <p:nvPr/>
        </p:nvSpPr>
        <p:spPr>
          <a:xfrm>
            <a:off x="451104" y="2550016"/>
            <a:ext cx="48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67"/>
          </a:p>
        </p:txBody>
      </p:sp>
      <p:sp>
        <p:nvSpPr>
          <p:cNvPr id="23" name="Text 21"/>
          <p:cNvSpPr/>
          <p:nvPr/>
        </p:nvSpPr>
        <p:spPr>
          <a:xfrm>
            <a:off x="1024128" y="2550016"/>
            <a:ext cx="30967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&amp; Behavior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1024128" y="2842624"/>
            <a:ext cx="259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i="1">
                <a:solidFill>
                  <a:srgbClr val="5A6A7A"/>
                </a:solidFill>
                <a:latin typeface="Arial"/>
                <a:ea typeface="Arial" pitchFamily="34" charset="-122"/>
                <a:cs typeface="Arial"/>
              </a:rPr>
              <a:t>From reactive to creative leadership mindset and </a:t>
            </a:r>
            <a:r>
              <a:rPr lang="en-US" sz="1050" i="1">
                <a:solidFill>
                  <a:srgbClr val="5A6A7A"/>
                </a:solidFill>
                <a:latin typeface="Arial"/>
                <a:cs typeface="Arial"/>
              </a:rPr>
              <a:t>behavior – vertical development</a:t>
            </a:r>
          </a:p>
        </p:txBody>
      </p:sp>
      <p:sp>
        <p:nvSpPr>
          <p:cNvPr id="25" name="Text 23"/>
          <p:cNvSpPr/>
          <p:nvPr/>
        </p:nvSpPr>
        <p:spPr>
          <a:xfrm>
            <a:off x="3657600" y="2476864"/>
            <a:ext cx="360000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Diagnostic · LCP/360° · Hot Button / Trigger Work · Iceberg Coaching · Best Self &amp; Identity Work · Value Work · 1:1 Coachings · Group Coaching · Peer Reflection  </a:t>
            </a:r>
            <a:endParaRPr lang="en-US" sz="1067" dirty="0"/>
          </a:p>
        </p:txBody>
      </p:sp>
      <p:sp>
        <p:nvSpPr>
          <p:cNvPr id="26" name="Text 24"/>
          <p:cNvSpPr/>
          <p:nvPr/>
        </p:nvSpPr>
        <p:spPr>
          <a:xfrm>
            <a:off x="7459874" y="2391520"/>
            <a:ext cx="22320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decisions, stronger ownership, higher performance</a:t>
            </a:r>
            <a:endParaRPr lang="en-US" sz="1067"/>
          </a:p>
        </p:txBody>
      </p:sp>
      <p:sp>
        <p:nvSpPr>
          <p:cNvPr id="27" name="Text 25"/>
          <p:cNvSpPr/>
          <p:nvPr/>
        </p:nvSpPr>
        <p:spPr>
          <a:xfrm>
            <a:off x="9804400" y="2532207"/>
            <a:ext cx="17110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· Team · Individual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26720" y="3379072"/>
            <a:ext cx="11362944" cy="24384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9" name="Shape 27"/>
          <p:cNvSpPr/>
          <p:nvPr/>
        </p:nvSpPr>
        <p:spPr>
          <a:xfrm>
            <a:off x="426720" y="3415648"/>
            <a:ext cx="11362944" cy="902208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0" name="Shape 28"/>
          <p:cNvSpPr/>
          <p:nvPr/>
        </p:nvSpPr>
        <p:spPr>
          <a:xfrm>
            <a:off x="451104" y="3488800"/>
            <a:ext cx="487680" cy="75590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1" name="Text 29"/>
          <p:cNvSpPr/>
          <p:nvPr/>
        </p:nvSpPr>
        <p:spPr>
          <a:xfrm>
            <a:off x="451104" y="3488800"/>
            <a:ext cx="48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67"/>
          </a:p>
        </p:txBody>
      </p:sp>
      <p:sp>
        <p:nvSpPr>
          <p:cNvPr id="32" name="Text 30"/>
          <p:cNvSpPr/>
          <p:nvPr/>
        </p:nvSpPr>
        <p:spPr>
          <a:xfrm>
            <a:off x="1024128" y="3488800"/>
            <a:ext cx="30967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Dynamics &amp; Collaboration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024128" y="3781408"/>
            <a:ext cx="259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i="1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psychological safety, conflict quality</a:t>
            </a:r>
            <a:endParaRPr lang="en-US" sz="1067"/>
          </a:p>
        </p:txBody>
      </p:sp>
      <p:sp>
        <p:nvSpPr>
          <p:cNvPr id="34" name="Text 32"/>
          <p:cNvSpPr/>
          <p:nvPr/>
        </p:nvSpPr>
        <p:spPr>
          <a:xfrm>
            <a:off x="3657600" y="3330304"/>
            <a:ext cx="3535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Vulnerability · Conflict &amp; Feedback · Psychological Safety · Team Agreements</a:t>
            </a:r>
            <a:endParaRPr lang="en-US" sz="1067" dirty="0"/>
          </a:p>
        </p:txBody>
      </p:sp>
      <p:sp>
        <p:nvSpPr>
          <p:cNvPr id="35" name="Text 33"/>
          <p:cNvSpPr/>
          <p:nvPr/>
        </p:nvSpPr>
        <p:spPr>
          <a:xfrm>
            <a:off x="7459874" y="3318112"/>
            <a:ext cx="22320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404040"/>
                </a:solidFill>
                <a:latin typeface="Arial"/>
                <a:ea typeface="Arial" pitchFamily="34" charset="-122"/>
                <a:cs typeface="Arial"/>
              </a:rPr>
              <a:t>Higher trust, faster decisions, better collaboration</a:t>
            </a:r>
            <a:r>
              <a:rPr lang="en-US" sz="1050" dirty="0">
                <a:solidFill>
                  <a:srgbClr val="404040"/>
                </a:solidFill>
                <a:latin typeface="Arial"/>
                <a:cs typeface="Arial"/>
              </a:rPr>
              <a:t>, alignment, shared ownership</a:t>
            </a:r>
          </a:p>
        </p:txBody>
      </p:sp>
      <p:sp>
        <p:nvSpPr>
          <p:cNvPr id="36" name="Text 34"/>
          <p:cNvSpPr/>
          <p:nvPr/>
        </p:nvSpPr>
        <p:spPr>
          <a:xfrm>
            <a:off x="9826752" y="3453949"/>
            <a:ext cx="1170432" cy="265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Org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26720" y="4317856"/>
            <a:ext cx="11362944" cy="24384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8" name="Shape 36"/>
          <p:cNvSpPr/>
          <p:nvPr/>
        </p:nvSpPr>
        <p:spPr>
          <a:xfrm>
            <a:off x="426720" y="4354432"/>
            <a:ext cx="11362944" cy="902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9" name="Shape 37"/>
          <p:cNvSpPr/>
          <p:nvPr/>
        </p:nvSpPr>
        <p:spPr>
          <a:xfrm>
            <a:off x="451104" y="4427584"/>
            <a:ext cx="487680" cy="75590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0" name="Text 38"/>
          <p:cNvSpPr/>
          <p:nvPr/>
        </p:nvSpPr>
        <p:spPr>
          <a:xfrm>
            <a:off x="451104" y="4427584"/>
            <a:ext cx="48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67"/>
          </a:p>
        </p:txBody>
      </p:sp>
      <p:sp>
        <p:nvSpPr>
          <p:cNvPr id="41" name="Text 39"/>
          <p:cNvSpPr/>
          <p:nvPr/>
        </p:nvSpPr>
        <p:spPr>
          <a:xfrm>
            <a:off x="1024128" y="4427584"/>
            <a:ext cx="30967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 &amp; Decision-Making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1024128" y="4720192"/>
            <a:ext cx="259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i="1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Ownership, speed and quality of decisions</a:t>
            </a:r>
            <a:endParaRPr lang="en-US" sz="1067"/>
          </a:p>
        </p:txBody>
      </p:sp>
      <p:sp>
        <p:nvSpPr>
          <p:cNvPr id="43" name="Text 41"/>
          <p:cNvSpPr/>
          <p:nvPr/>
        </p:nvSpPr>
        <p:spPr>
          <a:xfrm>
            <a:off x="3657600" y="4269088"/>
            <a:ext cx="3535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Rights &amp; Ownership · Marketplace/Co-Create to Innovate · Real Case Labs · </a:t>
            </a:r>
            <a:r>
              <a:rPr lang="en-US" sz="1067" i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Projects</a:t>
            </a:r>
            <a:endParaRPr lang="en-US" sz="1067" i="1"/>
          </a:p>
        </p:txBody>
      </p:sp>
      <p:sp>
        <p:nvSpPr>
          <p:cNvPr id="44" name="Text 42"/>
          <p:cNvSpPr/>
          <p:nvPr/>
        </p:nvSpPr>
        <p:spPr>
          <a:xfrm>
            <a:off x="7459874" y="4256896"/>
            <a:ext cx="22320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execution, higher ownership, stronger engagement</a:t>
            </a:r>
            <a:endParaRPr lang="en-US" sz="1067"/>
          </a:p>
        </p:txBody>
      </p:sp>
      <p:sp>
        <p:nvSpPr>
          <p:cNvPr id="45" name="Text 43"/>
          <p:cNvSpPr/>
          <p:nvPr/>
        </p:nvSpPr>
        <p:spPr>
          <a:xfrm>
            <a:off x="9826752" y="4171552"/>
            <a:ext cx="11704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· Team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426720" y="5256640"/>
            <a:ext cx="11362944" cy="24384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7" name="Shape 45"/>
          <p:cNvSpPr/>
          <p:nvPr/>
        </p:nvSpPr>
        <p:spPr>
          <a:xfrm>
            <a:off x="426720" y="5293216"/>
            <a:ext cx="11362944" cy="902208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8" name="Shape 46"/>
          <p:cNvSpPr/>
          <p:nvPr/>
        </p:nvSpPr>
        <p:spPr>
          <a:xfrm>
            <a:off x="451104" y="5366368"/>
            <a:ext cx="487680" cy="75590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9" name="Text 47"/>
          <p:cNvSpPr/>
          <p:nvPr/>
        </p:nvSpPr>
        <p:spPr>
          <a:xfrm>
            <a:off x="451104" y="5366368"/>
            <a:ext cx="487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67"/>
          </a:p>
        </p:txBody>
      </p:sp>
      <p:sp>
        <p:nvSpPr>
          <p:cNvPr id="50" name="Text 48"/>
          <p:cNvSpPr/>
          <p:nvPr/>
        </p:nvSpPr>
        <p:spPr>
          <a:xfrm>
            <a:off x="1024128" y="5366368"/>
            <a:ext cx="30967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2D5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&amp; Learning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1024128" y="5658976"/>
            <a:ext cx="259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i="1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Reflection, feedback and continuous development</a:t>
            </a:r>
            <a:endParaRPr lang="en-US" sz="1067"/>
          </a:p>
        </p:txBody>
      </p:sp>
      <p:sp>
        <p:nvSpPr>
          <p:cNvPr id="52" name="Text 50"/>
          <p:cNvSpPr/>
          <p:nvPr/>
        </p:nvSpPr>
        <p:spPr>
          <a:xfrm>
            <a:off x="3657600" y="5207872"/>
            <a:ext cx="35356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Cycles · Retrospectives · Learning Nuggets · </a:t>
            </a:r>
            <a:r>
              <a:rPr lang="en-US" sz="1067" i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Train-the-Trainer · Community Building</a:t>
            </a:r>
            <a:endParaRPr lang="en-US" sz="1067" i="1"/>
          </a:p>
        </p:txBody>
      </p:sp>
      <p:sp>
        <p:nvSpPr>
          <p:cNvPr id="53" name="Text 51"/>
          <p:cNvSpPr/>
          <p:nvPr/>
        </p:nvSpPr>
        <p:spPr>
          <a:xfrm>
            <a:off x="7459874" y="5195680"/>
            <a:ext cx="22320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67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transformation in daily behavior</a:t>
            </a:r>
            <a:endParaRPr lang="en-US" sz="1067"/>
          </a:p>
        </p:txBody>
      </p:sp>
      <p:sp>
        <p:nvSpPr>
          <p:cNvPr id="54" name="Text 52"/>
          <p:cNvSpPr/>
          <p:nvPr/>
        </p:nvSpPr>
        <p:spPr>
          <a:xfrm>
            <a:off x="9804400" y="5335546"/>
            <a:ext cx="1914144" cy="302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· Team · Individual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426720" y="6195424"/>
            <a:ext cx="11362944" cy="24384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pic>
        <p:nvPicPr>
          <p:cNvPr id="57" name="Grafik 56" descr="Volltreffer mit einfarbiger Füllung">
            <a:extLst>
              <a:ext uri="{FF2B5EF4-FFF2-40B4-BE49-F238E27FC236}">
                <a16:creationId xmlns:a16="http://schemas.microsoft.com/office/drawing/2014/main" id="{A61E8F57-FBD6-2B51-0E59-5A29CA647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893" y="1773184"/>
            <a:ext cx="432000" cy="432000"/>
          </a:xfrm>
          <a:prstGeom prst="rect">
            <a:avLst/>
          </a:prstGeom>
        </p:spPr>
      </p:pic>
      <p:pic>
        <p:nvPicPr>
          <p:cNvPr id="59" name="Grafik 58" descr="Kopf mit Zahnrädern mit einfarbiger Füllung">
            <a:extLst>
              <a:ext uri="{FF2B5EF4-FFF2-40B4-BE49-F238E27FC236}">
                <a16:creationId xmlns:a16="http://schemas.microsoft.com/office/drawing/2014/main" id="{892DC290-836D-58E3-E608-6AF868C19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991" y="2738465"/>
            <a:ext cx="432000" cy="432000"/>
          </a:xfrm>
          <a:prstGeom prst="rect">
            <a:avLst/>
          </a:prstGeom>
        </p:spPr>
      </p:pic>
      <p:pic>
        <p:nvPicPr>
          <p:cNvPr id="61" name="Grafik 60" descr="Prost Silhouette">
            <a:extLst>
              <a:ext uri="{FF2B5EF4-FFF2-40B4-BE49-F238E27FC236}">
                <a16:creationId xmlns:a16="http://schemas.microsoft.com/office/drawing/2014/main" id="{3812A74C-A260-938B-E21E-956A3B543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991" y="3640673"/>
            <a:ext cx="432000" cy="432000"/>
          </a:xfrm>
          <a:prstGeom prst="rect">
            <a:avLst/>
          </a:prstGeom>
        </p:spPr>
      </p:pic>
      <p:pic>
        <p:nvPicPr>
          <p:cNvPr id="63" name="Grafik 62" descr="Gruppenbrainstorming mit einfarbiger Füllung">
            <a:extLst>
              <a:ext uri="{FF2B5EF4-FFF2-40B4-BE49-F238E27FC236}">
                <a16:creationId xmlns:a16="http://schemas.microsoft.com/office/drawing/2014/main" id="{68EA681C-52B7-5E08-A74C-2D9D309F2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893" y="4542580"/>
            <a:ext cx="432000" cy="432000"/>
          </a:xfrm>
          <a:prstGeom prst="rect">
            <a:avLst/>
          </a:prstGeom>
        </p:spPr>
      </p:pic>
      <p:pic>
        <p:nvPicPr>
          <p:cNvPr id="65" name="Grafik 64" descr="Verbindungen mit einfarbiger Füllung">
            <a:extLst>
              <a:ext uri="{FF2B5EF4-FFF2-40B4-BE49-F238E27FC236}">
                <a16:creationId xmlns:a16="http://schemas.microsoft.com/office/drawing/2014/main" id="{7C96FC54-3F4C-5F81-FFE1-21ACF4D0C3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406" y="5547369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72640" cy="26822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1950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OFFERING</a:t>
            </a:r>
            <a:endParaRPr lang="en-US" sz="933"/>
          </a:p>
        </p:txBody>
      </p:sp>
      <p:sp>
        <p:nvSpPr>
          <p:cNvPr id="4" name="Text 2"/>
          <p:cNvSpPr/>
          <p:nvPr/>
        </p:nvSpPr>
        <p:spPr>
          <a:xfrm>
            <a:off x="426720" y="650626"/>
            <a:ext cx="11399520" cy="495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engage &amp; when – a phased approach across the whole system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26720" y="1292733"/>
            <a:ext cx="11399520" cy="24384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" name="Text 4"/>
          <p:cNvSpPr/>
          <p:nvPr/>
        </p:nvSpPr>
        <p:spPr>
          <a:xfrm>
            <a:off x="426720" y="1481249"/>
            <a:ext cx="11399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engage the whole system – from the top to the frontline – at the right moment and with the right format.</a:t>
            </a:r>
            <a:endParaRPr lang="en-US" sz="1400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6EC9D880-BCF3-D484-1916-ED8FE030C4F9}"/>
              </a:ext>
            </a:extLst>
          </p:cNvPr>
          <p:cNvGrpSpPr/>
          <p:nvPr/>
        </p:nvGrpSpPr>
        <p:grpSpPr>
          <a:xfrm>
            <a:off x="0" y="2092907"/>
            <a:ext cx="2996448" cy="730993"/>
            <a:chOff x="0" y="2092907"/>
            <a:chExt cx="2996448" cy="730993"/>
          </a:xfrm>
        </p:grpSpPr>
        <p:sp>
          <p:nvSpPr>
            <p:cNvPr id="16" name="Shape 14"/>
            <p:cNvSpPr/>
            <p:nvPr/>
          </p:nvSpPr>
          <p:spPr>
            <a:xfrm>
              <a:off x="0" y="2092907"/>
              <a:ext cx="1950720" cy="720000"/>
            </a:xfrm>
            <a:prstGeom prst="rect">
              <a:avLst/>
            </a:prstGeom>
            <a:solidFill>
              <a:srgbClr val="2D5157"/>
            </a:solidFill>
            <a:ln w="12700">
              <a:solidFill>
                <a:srgbClr val="2D5157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17" name="Text 15"/>
            <p:cNvSpPr/>
            <p:nvPr/>
          </p:nvSpPr>
          <p:spPr>
            <a:xfrm>
              <a:off x="48768" y="2092907"/>
              <a:ext cx="1853184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C-LEVEL /</a:t>
              </a:r>
              <a:endParaRPr lang="en-US" sz="1200"/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CONTRACTING</a:t>
              </a:r>
              <a:endParaRPr lang="en-US" sz="1200"/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PARTY</a:t>
              </a:r>
              <a:endParaRPr lang="en-US" sz="1200"/>
            </a:p>
          </p:txBody>
        </p:sp>
        <p:sp>
          <p:nvSpPr>
            <p:cNvPr id="18" name="Shape 16"/>
            <p:cNvSpPr/>
            <p:nvPr/>
          </p:nvSpPr>
          <p:spPr>
            <a:xfrm>
              <a:off x="2011680" y="2103900"/>
              <a:ext cx="936000" cy="720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solidFill>
                <a:srgbClr val="3D7A8A"/>
              </a:solidFill>
              <a:prstDash val="solid"/>
            </a:ln>
          </p:spPr>
          <p:txBody>
            <a:bodyPr/>
            <a:lstStyle/>
            <a:p>
              <a:endParaRPr lang="de-DE" sz="1050"/>
            </a:p>
          </p:txBody>
        </p:sp>
        <p:sp>
          <p:nvSpPr>
            <p:cNvPr id="19" name="Text 17"/>
            <p:cNvSpPr/>
            <p:nvPr/>
          </p:nvSpPr>
          <p:spPr>
            <a:xfrm>
              <a:off x="2060448" y="2100654"/>
              <a:ext cx="936000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0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Engagement · Collaboration Design</a:t>
              </a:r>
              <a:endParaRPr lang="en-US" sz="1050"/>
            </a:p>
          </p:txBody>
        </p:sp>
      </p:grpSp>
      <p:sp>
        <p:nvSpPr>
          <p:cNvPr id="20" name="Shape 18"/>
          <p:cNvSpPr/>
          <p:nvPr/>
        </p:nvSpPr>
        <p:spPr>
          <a:xfrm>
            <a:off x="10614585" y="2052189"/>
            <a:ext cx="900000" cy="720000"/>
          </a:xfrm>
          <a:prstGeom prst="rect">
            <a:avLst/>
          </a:prstGeom>
          <a:solidFill>
            <a:srgbClr val="3D7A8A"/>
          </a:solidFill>
          <a:ln w="12700">
            <a:solidFill>
              <a:srgbClr val="3D7A8A"/>
            </a:solidFill>
            <a:prstDash val="solid"/>
          </a:ln>
        </p:spPr>
        <p:txBody>
          <a:bodyPr/>
          <a:lstStyle/>
          <a:p>
            <a:endParaRPr lang="de-DE" sz="1050"/>
          </a:p>
        </p:txBody>
      </p:sp>
      <p:sp>
        <p:nvSpPr>
          <p:cNvPr id="21" name="Text 19"/>
          <p:cNvSpPr/>
          <p:nvPr/>
        </p:nvSpPr>
        <p:spPr>
          <a:xfrm>
            <a:off x="10687738" y="2025773"/>
            <a:ext cx="1033881" cy="596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· Feedback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0" y="4028322"/>
            <a:ext cx="1950720" cy="684000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3" name="Text 31"/>
          <p:cNvSpPr/>
          <p:nvPr/>
        </p:nvSpPr>
        <p:spPr>
          <a:xfrm>
            <a:off x="0" y="4013552"/>
            <a:ext cx="195072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</a:t>
            </a:r>
            <a:endParaRPr lang="en-US" sz="1200"/>
          </a:p>
          <a:p>
            <a:pPr algn="ctr"/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200"/>
          </a:p>
          <a:p>
            <a:pPr algn="ctr"/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(TEAMS,</a:t>
            </a:r>
            <a:r>
              <a:rPr lang="en-US" sz="1200"/>
              <a:t> </a:t>
            </a: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COMMUNITIES)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7354441" y="1932223"/>
            <a:ext cx="2382317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Organisational</a:t>
            </a:r>
            <a:endParaRPr lang="en-US" sz="1200"/>
          </a:p>
          <a:p>
            <a:pPr>
              <a:lnSpc>
                <a:spcPct val="110000"/>
              </a:lnSpc>
            </a:pPr>
            <a:r>
              <a:rPr lang="en-US" sz="1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/ Pulse Checks</a:t>
            </a:r>
            <a:endParaRPr lang="en-US" sz="1200"/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E2F6594D-9D8D-0F43-60F5-90EE8B8AE8F7}"/>
              </a:ext>
            </a:extLst>
          </p:cNvPr>
          <p:cNvGrpSpPr/>
          <p:nvPr/>
        </p:nvGrpSpPr>
        <p:grpSpPr>
          <a:xfrm>
            <a:off x="5342583" y="3976078"/>
            <a:ext cx="1080000" cy="742585"/>
            <a:chOff x="4466702" y="4073024"/>
            <a:chExt cx="1080000" cy="742585"/>
          </a:xfrm>
        </p:grpSpPr>
        <p:sp>
          <p:nvSpPr>
            <p:cNvPr id="36" name="Shape 34"/>
            <p:cNvSpPr/>
            <p:nvPr/>
          </p:nvSpPr>
          <p:spPr>
            <a:xfrm>
              <a:off x="4466702" y="4095609"/>
              <a:ext cx="1080000" cy="720000"/>
            </a:xfrm>
            <a:prstGeom prst="rect">
              <a:avLst/>
            </a:prstGeom>
            <a:solidFill>
              <a:srgbClr val="5A7A9A"/>
            </a:solidFill>
            <a:ln w="12700">
              <a:solidFill>
                <a:srgbClr val="5A7A9A"/>
              </a:solidFill>
              <a:prstDash val="solid"/>
            </a:ln>
          </p:spPr>
          <p:txBody>
            <a:bodyPr/>
            <a:lstStyle/>
            <a:p>
              <a:endParaRPr lang="de-DE" sz="1050"/>
            </a:p>
          </p:txBody>
        </p:sp>
        <p:sp>
          <p:nvSpPr>
            <p:cNvPr id="37" name="Text 35"/>
            <p:cNvSpPr/>
            <p:nvPr/>
          </p:nvSpPr>
          <p:spPr>
            <a:xfrm>
              <a:off x="4557809" y="4073024"/>
              <a:ext cx="971350" cy="720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0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Comm ·       Pulse Check</a:t>
              </a:r>
              <a:endParaRPr lang="en-US" sz="1050"/>
            </a:p>
          </p:txBody>
        </p:sp>
      </p:grpSp>
      <p:sp>
        <p:nvSpPr>
          <p:cNvPr id="38" name="Shape 36"/>
          <p:cNvSpPr/>
          <p:nvPr/>
        </p:nvSpPr>
        <p:spPr>
          <a:xfrm>
            <a:off x="6476615" y="4001677"/>
            <a:ext cx="3014111" cy="720000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de-DE" sz="1200"/>
          </a:p>
        </p:txBody>
      </p:sp>
      <p:sp>
        <p:nvSpPr>
          <p:cNvPr id="39" name="Text 37"/>
          <p:cNvSpPr/>
          <p:nvPr/>
        </p:nvSpPr>
        <p:spPr>
          <a:xfrm>
            <a:off x="6531049" y="3932367"/>
            <a:ext cx="2959678" cy="5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Transformation Journey  ·  Standalones / Combined Modules</a:t>
            </a:r>
            <a:endParaRPr lang="en-US" sz="1050" b="1"/>
          </a:p>
        </p:txBody>
      </p:sp>
      <p:sp>
        <p:nvSpPr>
          <p:cNvPr id="41" name="Text 39"/>
          <p:cNvSpPr/>
          <p:nvPr/>
        </p:nvSpPr>
        <p:spPr>
          <a:xfrm>
            <a:off x="6531049" y="4395752"/>
            <a:ext cx="2877163" cy="3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Train-the-Trainer ·  Community Building for further rollouts / cascade</a:t>
            </a:r>
            <a:endParaRPr lang="en-US" sz="1050"/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71037DAE-DF32-F5CC-6233-69082F62711B}"/>
              </a:ext>
            </a:extLst>
          </p:cNvPr>
          <p:cNvGrpSpPr/>
          <p:nvPr/>
        </p:nvGrpSpPr>
        <p:grpSpPr>
          <a:xfrm>
            <a:off x="9544607" y="3937628"/>
            <a:ext cx="1076038" cy="771349"/>
            <a:chOff x="11195695" y="3829372"/>
            <a:chExt cx="1076038" cy="771349"/>
          </a:xfrm>
        </p:grpSpPr>
        <p:sp>
          <p:nvSpPr>
            <p:cNvPr id="42" name="Shape 40"/>
            <p:cNvSpPr/>
            <p:nvPr/>
          </p:nvSpPr>
          <p:spPr>
            <a:xfrm>
              <a:off x="11195695" y="3880721"/>
              <a:ext cx="944098" cy="720000"/>
            </a:xfrm>
            <a:prstGeom prst="rect">
              <a:avLst/>
            </a:prstGeom>
            <a:solidFill>
              <a:srgbClr val="5A7A9A"/>
            </a:solidFill>
            <a:ln w="12700">
              <a:solidFill>
                <a:srgbClr val="5A7A9A"/>
              </a:solidFill>
              <a:prstDash val="solid"/>
            </a:ln>
          </p:spPr>
          <p:txBody>
            <a:bodyPr/>
            <a:lstStyle/>
            <a:p>
              <a:endParaRPr lang="de-DE" sz="1050"/>
            </a:p>
          </p:txBody>
        </p:sp>
        <p:sp>
          <p:nvSpPr>
            <p:cNvPr id="43" name="Text 41"/>
            <p:cNvSpPr/>
            <p:nvPr/>
          </p:nvSpPr>
          <p:spPr>
            <a:xfrm>
              <a:off x="11237852" y="3829372"/>
              <a:ext cx="1033881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0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Feedback</a:t>
              </a:r>
              <a:endParaRPr lang="en-US" sz="1050"/>
            </a:p>
            <a:p>
              <a:pPr>
                <a:lnSpc>
                  <a:spcPct val="110000"/>
                </a:lnSpc>
              </a:pPr>
              <a:r>
                <a:rPr lang="en-US" sz="10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Adaption</a:t>
              </a:r>
              <a:endParaRPr lang="en-US" sz="1050"/>
            </a:p>
          </p:txBody>
        </p:sp>
      </p:grpSp>
      <p:sp>
        <p:nvSpPr>
          <p:cNvPr id="44" name="Shape 42"/>
          <p:cNvSpPr/>
          <p:nvPr/>
        </p:nvSpPr>
        <p:spPr>
          <a:xfrm>
            <a:off x="0" y="4962061"/>
            <a:ext cx="1950720" cy="7200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5" name="Text 43"/>
          <p:cNvSpPr/>
          <p:nvPr/>
        </p:nvSpPr>
        <p:spPr>
          <a:xfrm>
            <a:off x="48768" y="4962061"/>
            <a:ext cx="1853184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2011680" y="4960660"/>
            <a:ext cx="9502905" cy="7200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  <p:txBody>
          <a:bodyPr/>
          <a:lstStyle/>
          <a:p>
            <a:endParaRPr lang="de-DE" sz="1050"/>
          </a:p>
        </p:txBody>
      </p:sp>
      <p:sp>
        <p:nvSpPr>
          <p:cNvPr id="47" name="Text 45"/>
          <p:cNvSpPr/>
          <p:nvPr/>
        </p:nvSpPr>
        <p:spPr>
          <a:xfrm>
            <a:off x="4716966" y="5020418"/>
            <a:ext cx="5659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Coaching · Peer Reflection</a:t>
            </a:r>
            <a:endParaRPr lang="en-US" sz="1050" dirty="0"/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D2994F8B-D8F7-2967-F041-0B419E3C285B}"/>
              </a:ext>
            </a:extLst>
          </p:cNvPr>
          <p:cNvGrpSpPr/>
          <p:nvPr/>
        </p:nvGrpSpPr>
        <p:grpSpPr>
          <a:xfrm>
            <a:off x="0" y="3036479"/>
            <a:ext cx="6640573" cy="825384"/>
            <a:chOff x="0" y="3023089"/>
            <a:chExt cx="6640573" cy="825384"/>
          </a:xfrm>
        </p:grpSpPr>
        <p:sp>
          <p:nvSpPr>
            <p:cNvPr id="22" name="Shape 20"/>
            <p:cNvSpPr/>
            <p:nvPr/>
          </p:nvSpPr>
          <p:spPr>
            <a:xfrm>
              <a:off x="0" y="3056392"/>
              <a:ext cx="1950720" cy="720000"/>
            </a:xfrm>
            <a:prstGeom prst="rect">
              <a:avLst/>
            </a:prstGeom>
            <a:solidFill>
              <a:srgbClr val="5AA2AE"/>
            </a:solidFill>
            <a:ln w="12700">
              <a:solidFill>
                <a:srgbClr val="5AA2AE"/>
              </a:solidFill>
              <a:prstDash val="solid"/>
            </a:ln>
          </p:spPr>
          <p:txBody>
            <a:bodyPr/>
            <a:lstStyle/>
            <a:p>
              <a:endParaRPr lang="de-DE" sz="2400"/>
            </a:p>
          </p:txBody>
        </p:sp>
        <p:sp>
          <p:nvSpPr>
            <p:cNvPr id="23" name="Text 21"/>
            <p:cNvSpPr/>
            <p:nvPr/>
          </p:nvSpPr>
          <p:spPr>
            <a:xfrm>
              <a:off x="48768" y="3068267"/>
              <a:ext cx="1853184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EXECUTIVE &amp;</a:t>
              </a:r>
              <a:endParaRPr lang="en-US" sz="1200"/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LEADERSHIP</a:t>
              </a:r>
              <a:endParaRPr lang="en-US" sz="1200"/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TEAMS</a:t>
              </a:r>
              <a:endParaRPr lang="en-US" sz="1200"/>
            </a:p>
          </p:txBody>
        </p:sp>
        <p:sp>
          <p:nvSpPr>
            <p:cNvPr id="24" name="Shape 22"/>
            <p:cNvSpPr/>
            <p:nvPr/>
          </p:nvSpPr>
          <p:spPr>
            <a:xfrm>
              <a:off x="2011680" y="3050315"/>
              <a:ext cx="936000" cy="720000"/>
            </a:xfrm>
            <a:prstGeom prst="rect">
              <a:avLst/>
            </a:prstGeom>
            <a:solidFill>
              <a:srgbClr val="5AA2AE"/>
            </a:solidFill>
            <a:ln w="12700">
              <a:solidFill>
                <a:srgbClr val="5AA2AE"/>
              </a:solidFill>
              <a:prstDash val="solid"/>
            </a:ln>
          </p:spPr>
          <p:txBody>
            <a:bodyPr/>
            <a:lstStyle/>
            <a:p>
              <a:endParaRPr lang="de-DE" sz="1050"/>
            </a:p>
          </p:txBody>
        </p:sp>
        <p:sp>
          <p:nvSpPr>
            <p:cNvPr id="25" name="Text 23"/>
            <p:cNvSpPr/>
            <p:nvPr/>
          </p:nvSpPr>
          <p:spPr>
            <a:xfrm>
              <a:off x="2084324" y="3023089"/>
              <a:ext cx="935895" cy="707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0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Kick-off · Diagnosis</a:t>
              </a:r>
              <a:endParaRPr lang="en-US" sz="1050"/>
            </a:p>
          </p:txBody>
        </p: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25211E1E-D9CB-80B9-9D75-7C545A2BF612}"/>
                </a:ext>
              </a:extLst>
            </p:cNvPr>
            <p:cNvGrpSpPr/>
            <p:nvPr/>
          </p:nvGrpSpPr>
          <p:grpSpPr>
            <a:xfrm>
              <a:off x="2996765" y="3035045"/>
              <a:ext cx="3643808" cy="813428"/>
              <a:chOff x="4063789" y="3036684"/>
              <a:chExt cx="4334125" cy="813428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4063789" y="3047503"/>
                <a:ext cx="2766614" cy="720000"/>
              </a:xfrm>
              <a:prstGeom prst="rect">
                <a:avLst/>
              </a:prstGeom>
              <a:solidFill>
                <a:srgbClr val="5AA2AE"/>
              </a:solidFill>
              <a:ln w="12700">
                <a:solidFill>
                  <a:srgbClr val="5AA2AE"/>
                </a:solidFill>
                <a:prstDash val="solid"/>
              </a:ln>
            </p:spPr>
            <p:txBody>
              <a:bodyPr/>
              <a:lstStyle/>
              <a:p>
                <a:endParaRPr lang="de-DE" sz="120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4162913" y="3142976"/>
                <a:ext cx="1163528" cy="7071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0000"/>
                  </a:lnSpc>
                </a:pPr>
                <a:r>
                  <a:rPr lang="en-US" sz="105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Activation Workshop</a:t>
                </a:r>
                <a:endParaRPr lang="en-US" sz="105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4895913" y="3242863"/>
                <a:ext cx="1805106" cy="4807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10000"/>
                  </a:lnSpc>
                </a:pPr>
                <a:r>
                  <a:rPr lang="en-US" sz="105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Workshops · Focus Sessions · Coaching</a:t>
                </a:r>
                <a:endParaRPr lang="en-US" sz="1050"/>
              </a:p>
            </p:txBody>
          </p:sp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D84ADFD6-26F3-DA19-E0FC-CCF7DE16004C}"/>
                  </a:ext>
                </a:extLst>
              </p:cNvPr>
              <p:cNvSpPr txBox="1"/>
              <p:nvPr/>
            </p:nvSpPr>
            <p:spPr>
              <a:xfrm>
                <a:off x="4077914" y="3036684"/>
                <a:ext cx="4320000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50" b="1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Team Transformation Journey </a:t>
                </a:r>
                <a:endParaRPr lang="de-DE" sz="1050" b="1"/>
              </a:p>
            </p:txBody>
          </p:sp>
        </p:grpSp>
        <p:sp>
          <p:nvSpPr>
            <p:cNvPr id="53" name="Shape 18">
              <a:extLst>
                <a:ext uri="{FF2B5EF4-FFF2-40B4-BE49-F238E27FC236}">
                  <a16:creationId xmlns:a16="http://schemas.microsoft.com/office/drawing/2014/main" id="{7511154C-600F-8A6C-AD8D-A3A047A5CA10}"/>
                </a:ext>
              </a:extLst>
            </p:cNvPr>
            <p:cNvSpPr/>
            <p:nvPr/>
          </p:nvSpPr>
          <p:spPr>
            <a:xfrm>
              <a:off x="5365843" y="3045196"/>
              <a:ext cx="1080000" cy="720000"/>
            </a:xfrm>
            <a:prstGeom prst="rect">
              <a:avLst/>
            </a:prstGeom>
            <a:solidFill>
              <a:srgbClr val="5AA2AE"/>
            </a:solidFill>
            <a:ln w="12700">
              <a:solidFill>
                <a:srgbClr val="5AA2AE"/>
              </a:solidFill>
              <a:prstDash val="solid"/>
            </a:ln>
          </p:spPr>
          <p:txBody>
            <a:bodyPr/>
            <a:lstStyle/>
            <a:p>
              <a:endParaRPr lang="de-DE" sz="1050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940FE233-A254-F104-3903-C82A336505FB}"/>
                </a:ext>
              </a:extLst>
            </p:cNvPr>
            <p:cNvSpPr/>
            <p:nvPr/>
          </p:nvSpPr>
          <p:spPr>
            <a:xfrm>
              <a:off x="5435712" y="3074466"/>
              <a:ext cx="1033881" cy="596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05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Feedback </a:t>
              </a:r>
              <a:r>
                <a:rPr lang="en-US" sz="10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</a:t>
              </a:r>
              <a:r>
                <a:rPr lang="en-US" sz="1050">
                  <a:solidFill>
                    <a:schemeClr val="bg1"/>
                  </a:solidFill>
                </a:rPr>
                <a:t> </a:t>
              </a:r>
              <a:r>
                <a:rPr lang="en-US" sz="105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Adaption </a:t>
              </a:r>
              <a:r>
                <a:rPr lang="en-US" sz="10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</a:t>
              </a:r>
              <a:r>
                <a:rPr lang="en-US" sz="105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Scaling Plan</a:t>
              </a:r>
              <a:endParaRPr lang="en-US" sz="1050">
                <a:solidFill>
                  <a:schemeClr val="bg1"/>
                </a:solidFill>
              </a:endParaRPr>
            </a:p>
          </p:txBody>
        </p:sp>
      </p:grpSp>
      <p:sp>
        <p:nvSpPr>
          <p:cNvPr id="56" name="Shape 40">
            <a:extLst>
              <a:ext uri="{FF2B5EF4-FFF2-40B4-BE49-F238E27FC236}">
                <a16:creationId xmlns:a16="http://schemas.microsoft.com/office/drawing/2014/main" id="{32C957D2-D957-FEAC-9453-79A1E3988B7B}"/>
              </a:ext>
            </a:extLst>
          </p:cNvPr>
          <p:cNvSpPr/>
          <p:nvPr/>
        </p:nvSpPr>
        <p:spPr>
          <a:xfrm>
            <a:off x="10542585" y="3974526"/>
            <a:ext cx="972000" cy="720000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de-DE" sz="105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95D5DA30-6D0C-BE09-50A5-7F229AD4A51F}"/>
              </a:ext>
            </a:extLst>
          </p:cNvPr>
          <p:cNvSpPr/>
          <p:nvPr/>
        </p:nvSpPr>
        <p:spPr>
          <a:xfrm>
            <a:off x="10595502" y="3981773"/>
            <a:ext cx="782688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Comm </a:t>
            </a: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10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       Org Survey</a:t>
            </a:r>
            <a:endParaRPr lang="en-US" sz="100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3A649532-8F08-2218-9D8F-BB17B49AD238}"/>
              </a:ext>
            </a:extLst>
          </p:cNvPr>
          <p:cNvSpPr/>
          <p:nvPr/>
        </p:nvSpPr>
        <p:spPr>
          <a:xfrm>
            <a:off x="5353873" y="2088929"/>
            <a:ext cx="1091970" cy="720000"/>
          </a:xfrm>
          <a:prstGeom prst="rect">
            <a:avLst/>
          </a:prstGeom>
          <a:solidFill>
            <a:srgbClr val="3D7A8A"/>
          </a:solidFill>
          <a:ln w="12700">
            <a:solidFill>
              <a:srgbClr val="3D7A8A"/>
            </a:solidFill>
            <a:prstDash val="solid"/>
          </a:ln>
        </p:spPr>
        <p:txBody>
          <a:bodyPr/>
          <a:lstStyle/>
          <a:p>
            <a:endParaRPr lang="de-DE" sz="105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20B5588E-248D-B59F-0B49-7A8A9FAC42BF}"/>
              </a:ext>
            </a:extLst>
          </p:cNvPr>
          <p:cNvSpPr/>
          <p:nvPr/>
        </p:nvSpPr>
        <p:spPr>
          <a:xfrm>
            <a:off x="5427026" y="2062513"/>
            <a:ext cx="1049589" cy="596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· Feedback</a:t>
            </a:r>
            <a:endParaRPr lang="en-US" sz="1050"/>
          </a:p>
        </p:txBody>
      </p:sp>
      <p:sp>
        <p:nvSpPr>
          <p:cNvPr id="64" name="Shape 18">
            <a:extLst>
              <a:ext uri="{FF2B5EF4-FFF2-40B4-BE49-F238E27FC236}">
                <a16:creationId xmlns:a16="http://schemas.microsoft.com/office/drawing/2014/main" id="{52B23221-27EB-6943-EDFC-1447EF3E301B}"/>
              </a:ext>
            </a:extLst>
          </p:cNvPr>
          <p:cNvSpPr/>
          <p:nvPr/>
        </p:nvSpPr>
        <p:spPr>
          <a:xfrm>
            <a:off x="7939656" y="2087565"/>
            <a:ext cx="1091970" cy="720000"/>
          </a:xfrm>
          <a:prstGeom prst="rect">
            <a:avLst/>
          </a:prstGeom>
          <a:solidFill>
            <a:srgbClr val="3D7A8A"/>
          </a:solidFill>
          <a:ln w="12700">
            <a:solidFill>
              <a:srgbClr val="3D7A8A"/>
            </a:solidFill>
            <a:prstDash val="solid"/>
          </a:ln>
        </p:spPr>
        <p:txBody>
          <a:bodyPr/>
          <a:lstStyle/>
          <a:p>
            <a:endParaRPr lang="de-DE" sz="105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E3E58A51-A72A-07B2-A4FE-94D2D23E67A0}"/>
              </a:ext>
            </a:extLst>
          </p:cNvPr>
          <p:cNvSpPr/>
          <p:nvPr/>
        </p:nvSpPr>
        <p:spPr>
          <a:xfrm>
            <a:off x="8012809" y="2061149"/>
            <a:ext cx="1049589" cy="596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· Feedback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26822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17556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1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OFFERING</a:t>
            </a:r>
            <a:endParaRPr lang="en-US" sz="933" dirty="0"/>
          </a:p>
        </p:txBody>
      </p:sp>
      <p:sp>
        <p:nvSpPr>
          <p:cNvPr id="4" name="Text 2"/>
          <p:cNvSpPr/>
          <p:nvPr/>
        </p:nvSpPr>
        <p:spPr>
          <a:xfrm>
            <a:off x="426720" y="341376"/>
            <a:ext cx="1133856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offer: The Transformation Journey – modular &amp; flexible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26720" y="1560576"/>
            <a:ext cx="3694176" cy="3695368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" name="Shape 4"/>
          <p:cNvSpPr/>
          <p:nvPr/>
        </p:nvSpPr>
        <p:spPr>
          <a:xfrm>
            <a:off x="426720" y="1560576"/>
            <a:ext cx="3694176" cy="341376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7" name="Text 5"/>
          <p:cNvSpPr/>
          <p:nvPr/>
        </p:nvSpPr>
        <p:spPr>
          <a:xfrm>
            <a:off x="524256" y="1560576"/>
            <a:ext cx="35722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Diagnose &amp; Awareness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48640" y="1926336"/>
            <a:ext cx="345033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/>
          </a:p>
        </p:txBody>
      </p:sp>
      <p:sp>
        <p:nvSpPr>
          <p:cNvPr id="9" name="Text 7"/>
          <p:cNvSpPr/>
          <p:nvPr/>
        </p:nvSpPr>
        <p:spPr>
          <a:xfrm>
            <a:off x="548640" y="1902993"/>
            <a:ext cx="3511296" cy="167388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223520" indent="-223520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Effectiveness Diagnostic</a:t>
            </a:r>
            <a:endParaRPr lang="en-US" sz="1133">
              <a:cs typeface="Arial" panose="020B0604020202020204"/>
            </a:endParaRPr>
          </a:p>
          <a:p>
            <a:pPr marL="223520" indent="-223520">
              <a:spcBef>
                <a:spcPts val="100"/>
              </a:spcBef>
              <a:spcAft>
                <a:spcPts val="100"/>
              </a:spcAft>
              <a:buSzPct val="100000"/>
              <a:buFontTx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LCP / 360° Assessment</a:t>
            </a:r>
          </a:p>
          <a:p>
            <a:pPr marL="223520" indent="-223520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Leadership Interviews</a:t>
            </a:r>
          </a:p>
          <a:p>
            <a:pPr marL="223520" indent="-223520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Team Member Interviews</a:t>
            </a:r>
          </a:p>
          <a:p>
            <a:pPr marL="223520" indent="-223520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Mindset Baseline (Reactive vs. Creative)</a:t>
            </a:r>
          </a:p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endParaRPr lang="en-US" sz="1100" i="1">
              <a:solidFill>
                <a:srgbClr val="404040"/>
              </a:solidFill>
              <a:latin typeface="Arial"/>
              <a:cs typeface="Arial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endParaRPr lang="en-US" sz="1133"/>
          </a:p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endParaRPr lang="en-US" sz="1133">
              <a:solidFill>
                <a:srgbClr val="FF0000"/>
              </a:solidFill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sz="1100">
              <a:solidFill>
                <a:srgbClr val="FF0000"/>
              </a:solidFill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12336" y="1560576"/>
            <a:ext cx="3694176" cy="3695368"/>
          </a:xfrm>
          <a:prstGeom prst="rect">
            <a:avLst/>
          </a:prstGeom>
          <a:solidFill>
            <a:srgbClr val="A8D0D8"/>
          </a:solidFill>
          <a:ln w="12700">
            <a:solidFill>
              <a:srgbClr val="A8D0D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1" name="Shape 9"/>
          <p:cNvSpPr/>
          <p:nvPr/>
        </p:nvSpPr>
        <p:spPr>
          <a:xfrm>
            <a:off x="4212336" y="1560576"/>
            <a:ext cx="3694176" cy="341376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Text 10"/>
          <p:cNvSpPr/>
          <p:nvPr/>
        </p:nvSpPr>
        <p:spPr>
          <a:xfrm>
            <a:off x="4309872" y="1560576"/>
            <a:ext cx="35722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Mobilize, Shift &amp; Accelerate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334256" y="1891842"/>
            <a:ext cx="3511296" cy="3341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&amp; Vision</a:t>
            </a:r>
            <a:endParaRPr lang="en-US" sz="1133"/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&amp; Prioritization</a:t>
            </a:r>
            <a:endParaRPr lang="en-US" sz="1133"/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Strategy-to-Execution Bridge</a:t>
            </a:r>
            <a:endParaRPr lang="en-US" sz="1133"/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Agile Alignment Exercise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FontTx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Customer &amp; Product Centricity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Coaching (beliefs &amp; patterns)</a:t>
            </a:r>
            <a:endParaRPr lang="en-US" sz="1133"/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Value Master Class 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Trigger &amp; Hot Button Work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Best Self &amp; Identity Work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Trust &amp; Psychological Safety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Conflict &amp; Feedback Quality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Team Agreements &amp; Collaboration Rules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Courageous Conversation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Marketplace / Co-Create to Innovate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Stakeholder Mapping</a:t>
            </a:r>
          </a:p>
          <a:p>
            <a:pPr marL="223838" indent="-223838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Real Case Labs</a:t>
            </a:r>
          </a:p>
        </p:txBody>
      </p:sp>
      <p:sp>
        <p:nvSpPr>
          <p:cNvPr id="15" name="Shape 13"/>
          <p:cNvSpPr/>
          <p:nvPr/>
        </p:nvSpPr>
        <p:spPr>
          <a:xfrm>
            <a:off x="7997952" y="1560576"/>
            <a:ext cx="3694176" cy="3695368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6" name="Shape 14"/>
          <p:cNvSpPr/>
          <p:nvPr/>
        </p:nvSpPr>
        <p:spPr>
          <a:xfrm>
            <a:off x="7997952" y="1560576"/>
            <a:ext cx="3694176" cy="341376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7" name="Text 15"/>
          <p:cNvSpPr/>
          <p:nvPr/>
        </p:nvSpPr>
        <p:spPr>
          <a:xfrm>
            <a:off x="8095488" y="1560576"/>
            <a:ext cx="35722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Embed &amp; Sustain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8119872" y="1914144"/>
            <a:ext cx="3672000" cy="2839981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179070" indent="-179070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Cycles (Execution + Reflection + Adaptation)</a:t>
            </a:r>
            <a:endParaRPr lang="en-US" sz="1133">
              <a:cs typeface="Arial" panose="020B0604020202020204"/>
            </a:endParaRPr>
          </a:p>
          <a:p>
            <a:pPr marL="179070" indent="-179070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Nuggets</a:t>
            </a:r>
            <a:endParaRPr lang="en-US" sz="1133">
              <a:cs typeface="Arial" panose="020B0604020202020204"/>
            </a:endParaRPr>
          </a:p>
          <a:p>
            <a:pPr marL="179070" indent="-179070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Check-ins</a:t>
            </a:r>
            <a:endParaRPr lang="en-US" sz="1133">
              <a:cs typeface="Arial" panose="020B0604020202020204"/>
            </a:endParaRPr>
          </a:p>
          <a:p>
            <a:pPr marL="179070" indent="-179070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133" i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Scaling: Train-the-Trainer</a:t>
            </a:r>
            <a:endParaRPr lang="en-US" sz="1133" i="1">
              <a:cs typeface="Arial" panose="020B0604020202020204"/>
            </a:endParaRPr>
          </a:p>
          <a:p>
            <a:pPr marL="179070" indent="-179070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133" i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Building</a:t>
            </a:r>
            <a:endParaRPr lang="en-US" sz="1133" i="1">
              <a:cs typeface="Arial" panose="020B0604020202020204"/>
            </a:endParaRPr>
          </a:p>
          <a:p>
            <a:pPr marL="179070" indent="-179070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Retrospectives &amp; Reviews</a:t>
            </a:r>
            <a:endParaRPr lang="en-US" sz="1133">
              <a:cs typeface="Arial" panose="020B0604020202020204"/>
            </a:endParaRPr>
          </a:p>
          <a:p>
            <a:pPr marL="179070" indent="-179070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 Nuggets &amp; Reflection Formats</a:t>
            </a:r>
          </a:p>
          <a:p>
            <a:pPr marL="179070" indent="-179070">
              <a:lnSpc>
                <a:spcPct val="114999"/>
              </a:lnSpc>
              <a:spcAft>
                <a:spcPts val="267"/>
              </a:spcAft>
              <a:buSzPct val="100000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Feedback</a:t>
            </a:r>
          </a:p>
          <a:p>
            <a:pPr marL="179070" indent="-179070">
              <a:lnSpc>
                <a:spcPct val="114999"/>
              </a:lnSpc>
              <a:spcAft>
                <a:spcPts val="267"/>
              </a:spcAft>
              <a:buSzPct val="100000"/>
              <a:buFont typeface="Arial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Coaching</a:t>
            </a:r>
          </a:p>
          <a:p>
            <a:pPr marL="179070" indent="-179070">
              <a:lnSpc>
                <a:spcPct val="114999"/>
              </a:lnSpc>
              <a:spcAft>
                <a:spcPts val="267"/>
              </a:spcAft>
              <a:buSzPct val="100000"/>
              <a:buFont typeface="Arial"/>
              <a:buChar char="•"/>
            </a:pPr>
            <a:r>
              <a:rPr lang="en-US" sz="1133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360</a:t>
            </a:r>
          </a:p>
          <a:p>
            <a:pPr>
              <a:lnSpc>
                <a:spcPct val="115000"/>
              </a:lnSpc>
              <a:spcAft>
                <a:spcPts val="267"/>
              </a:spcAft>
              <a:buSzPct val="100000"/>
            </a:pPr>
            <a:endParaRPr lang="en-US" sz="1133" i="1">
              <a:solidFill>
                <a:srgbClr val="404040"/>
              </a:solidFill>
              <a:latin typeface="Arial" pitchFamily="34" charset="0"/>
              <a:cs typeface="Arial" pitchFamily="34" charset="-120"/>
            </a:endParaRPr>
          </a:p>
          <a:p>
            <a:pPr marL="179388" indent="-179388">
              <a:lnSpc>
                <a:spcPct val="115000"/>
              </a:lnSpc>
              <a:spcAft>
                <a:spcPts val="267"/>
              </a:spcAft>
              <a:buSzPct val="100000"/>
              <a:buChar char="•"/>
            </a:pPr>
            <a:endParaRPr lang="en-US" sz="1133" i="1">
              <a:solidFill>
                <a:srgbClr val="40404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4528" y="5265088"/>
            <a:ext cx="11277600" cy="30576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9532" y="5276240"/>
            <a:ext cx="3048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ACROSS ALL PHASES: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13079" y="5253494"/>
            <a:ext cx="8124481" cy="232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Sessions (1:1, Group)</a:t>
            </a:r>
            <a:endParaRPr lang="en-US" sz="1067">
              <a:solidFill>
                <a:schemeClr val="bg1"/>
              </a:solidFill>
            </a:endParaRP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8DDF275-15A5-03B8-9B33-5490550CD43C}"/>
              </a:ext>
            </a:extLst>
          </p:cNvPr>
          <p:cNvGrpSpPr/>
          <p:nvPr/>
        </p:nvGrpSpPr>
        <p:grpSpPr>
          <a:xfrm>
            <a:off x="-34417" y="5861059"/>
            <a:ext cx="12226417" cy="597408"/>
            <a:chOff x="-90311" y="5434842"/>
            <a:chExt cx="12271022" cy="59740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7FD411FB-FC64-F2B5-B759-C07F26CFA8CE}"/>
                </a:ext>
              </a:extLst>
            </p:cNvPr>
            <p:cNvGrpSpPr/>
            <p:nvPr/>
          </p:nvGrpSpPr>
          <p:grpSpPr>
            <a:xfrm>
              <a:off x="-90311" y="5434842"/>
              <a:ext cx="12271022" cy="597408"/>
              <a:chOff x="1548384" y="6205728"/>
              <a:chExt cx="10607040" cy="597408"/>
            </a:xfrm>
          </p:grpSpPr>
          <p:sp>
            <p:nvSpPr>
              <p:cNvPr id="24" name="Shape 3">
                <a:extLst>
                  <a:ext uri="{FF2B5EF4-FFF2-40B4-BE49-F238E27FC236}">
                    <a16:creationId xmlns:a16="http://schemas.microsoft.com/office/drawing/2014/main" id="{26A3A5C6-6BB0-46E9-1AA5-2116D0563883}"/>
                  </a:ext>
                </a:extLst>
              </p:cNvPr>
              <p:cNvSpPr/>
              <p:nvPr/>
            </p:nvSpPr>
            <p:spPr>
              <a:xfrm>
                <a:off x="1975104" y="6315456"/>
                <a:ext cx="9753600" cy="48768"/>
              </a:xfrm>
              <a:prstGeom prst="rect">
                <a:avLst/>
              </a:prstGeom>
              <a:solidFill>
                <a:srgbClr val="7F8FA9"/>
              </a:solidFill>
              <a:ln w="12700">
                <a:solidFill>
                  <a:srgbClr val="7F8FA9"/>
                </a:solidFill>
                <a:prstDash val="solid"/>
              </a:ln>
            </p:spPr>
            <p:txBody>
              <a:bodyPr/>
              <a:lstStyle/>
              <a:p>
                <a:endParaRPr lang="de-DE" sz="2400"/>
              </a:p>
            </p:txBody>
          </p:sp>
          <p:sp>
            <p:nvSpPr>
              <p:cNvPr id="25" name="Shape 4">
                <a:extLst>
                  <a:ext uri="{FF2B5EF4-FFF2-40B4-BE49-F238E27FC236}">
                    <a16:creationId xmlns:a16="http://schemas.microsoft.com/office/drawing/2014/main" id="{87579317-CC78-FEFF-91C7-FB0185F0E24E}"/>
                  </a:ext>
                </a:extLst>
              </p:cNvPr>
              <p:cNvSpPr/>
              <p:nvPr/>
            </p:nvSpPr>
            <p:spPr>
              <a:xfrm>
                <a:off x="1950720" y="6230112"/>
                <a:ext cx="48768" cy="219456"/>
              </a:xfrm>
              <a:prstGeom prst="rect">
                <a:avLst/>
              </a:prstGeom>
              <a:solidFill>
                <a:srgbClr val="7F8FA9"/>
              </a:solidFill>
              <a:ln w="12700">
                <a:solidFill>
                  <a:srgbClr val="7F8FA9"/>
                </a:solidFill>
                <a:prstDash val="solid"/>
              </a:ln>
            </p:spPr>
            <p:txBody>
              <a:bodyPr/>
              <a:lstStyle/>
              <a:p>
                <a:endParaRPr lang="de-DE" sz="2400"/>
              </a:p>
            </p:txBody>
          </p:sp>
          <p:sp>
            <p:nvSpPr>
              <p:cNvPr id="26" name="Text 5">
                <a:extLst>
                  <a:ext uri="{FF2B5EF4-FFF2-40B4-BE49-F238E27FC236}">
                    <a16:creationId xmlns:a16="http://schemas.microsoft.com/office/drawing/2014/main" id="{602BE101-7513-2194-ABCF-84BA5626F796}"/>
                  </a:ext>
                </a:extLst>
              </p:cNvPr>
              <p:cNvSpPr/>
              <p:nvPr/>
            </p:nvSpPr>
            <p:spPr>
              <a:xfrm>
                <a:off x="1548384" y="6437376"/>
                <a:ext cx="8534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933" b="1">
                    <a:solidFill>
                      <a:srgbClr val="7F8FA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0</a:t>
                </a:r>
                <a:endParaRPr lang="en-US" sz="933"/>
              </a:p>
            </p:txBody>
          </p:sp>
          <p:sp>
            <p:nvSpPr>
              <p:cNvPr id="27" name="Shape 6">
                <a:extLst>
                  <a:ext uri="{FF2B5EF4-FFF2-40B4-BE49-F238E27FC236}">
                    <a16:creationId xmlns:a16="http://schemas.microsoft.com/office/drawing/2014/main" id="{139C1E58-3342-F189-CE43-84C457839571}"/>
                  </a:ext>
                </a:extLst>
              </p:cNvPr>
              <p:cNvSpPr/>
              <p:nvPr/>
            </p:nvSpPr>
            <p:spPr>
              <a:xfrm>
                <a:off x="5191135" y="6205728"/>
                <a:ext cx="48768" cy="219456"/>
              </a:xfrm>
              <a:prstGeom prst="rect">
                <a:avLst/>
              </a:prstGeom>
              <a:solidFill>
                <a:srgbClr val="7F8FA9"/>
              </a:solidFill>
              <a:ln w="12700">
                <a:solidFill>
                  <a:srgbClr val="7F8FA9"/>
                </a:solidFill>
                <a:prstDash val="solid"/>
              </a:ln>
            </p:spPr>
            <p:txBody>
              <a:bodyPr/>
              <a:lstStyle/>
              <a:p>
                <a:endParaRPr lang="de-DE" sz="2400"/>
              </a:p>
            </p:txBody>
          </p:sp>
          <p:sp>
            <p:nvSpPr>
              <p:cNvPr id="28" name="Text 7">
                <a:extLst>
                  <a:ext uri="{FF2B5EF4-FFF2-40B4-BE49-F238E27FC236}">
                    <a16:creationId xmlns:a16="http://schemas.microsoft.com/office/drawing/2014/main" id="{ED57DABB-3EC5-EAE4-3EF4-001BC7C93B70}"/>
                  </a:ext>
                </a:extLst>
              </p:cNvPr>
              <p:cNvSpPr/>
              <p:nvPr/>
            </p:nvSpPr>
            <p:spPr>
              <a:xfrm>
                <a:off x="4788801" y="6412992"/>
                <a:ext cx="8534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933" b="1">
                    <a:solidFill>
                      <a:srgbClr val="7F8FA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1–2</a:t>
                </a:r>
              </a:p>
              <a:p>
                <a:pPr algn="ctr"/>
                <a:r>
                  <a:rPr lang="en-US" sz="933" b="1">
                    <a:solidFill>
                      <a:srgbClr val="7F8FA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MONTHS</a:t>
                </a:r>
                <a:endParaRPr lang="en-US" sz="933"/>
              </a:p>
            </p:txBody>
          </p:sp>
          <p:sp>
            <p:nvSpPr>
              <p:cNvPr id="29" name="Shape 8">
                <a:extLst>
                  <a:ext uri="{FF2B5EF4-FFF2-40B4-BE49-F238E27FC236}">
                    <a16:creationId xmlns:a16="http://schemas.microsoft.com/office/drawing/2014/main" id="{1BC467EA-D396-FD18-948E-BC19B387F676}"/>
                  </a:ext>
                </a:extLst>
              </p:cNvPr>
              <p:cNvSpPr/>
              <p:nvPr/>
            </p:nvSpPr>
            <p:spPr>
              <a:xfrm>
                <a:off x="8448522" y="6217920"/>
                <a:ext cx="48768" cy="219456"/>
              </a:xfrm>
              <a:prstGeom prst="rect">
                <a:avLst/>
              </a:prstGeom>
              <a:solidFill>
                <a:srgbClr val="7F8FA9"/>
              </a:solidFill>
              <a:ln w="12700">
                <a:solidFill>
                  <a:srgbClr val="7F8FA9"/>
                </a:solidFill>
                <a:prstDash val="solid"/>
              </a:ln>
            </p:spPr>
            <p:txBody>
              <a:bodyPr/>
              <a:lstStyle/>
              <a:p>
                <a:endParaRPr lang="de-DE" sz="2400"/>
              </a:p>
            </p:txBody>
          </p:sp>
          <p:sp>
            <p:nvSpPr>
              <p:cNvPr id="30" name="Text 9">
                <a:extLst>
                  <a:ext uri="{FF2B5EF4-FFF2-40B4-BE49-F238E27FC236}">
                    <a16:creationId xmlns:a16="http://schemas.microsoft.com/office/drawing/2014/main" id="{9FB6876C-4128-AC6F-F65F-A2B77C61B9F0}"/>
                  </a:ext>
                </a:extLst>
              </p:cNvPr>
              <p:cNvSpPr/>
              <p:nvPr/>
            </p:nvSpPr>
            <p:spPr>
              <a:xfrm>
                <a:off x="8070570" y="6437376"/>
                <a:ext cx="8534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933" b="1">
                    <a:solidFill>
                      <a:srgbClr val="7F8FA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2–6</a:t>
                </a:r>
                <a:endParaRPr lang="en-US" sz="933"/>
              </a:p>
              <a:p>
                <a:pPr algn="ctr"/>
                <a:r>
                  <a:rPr lang="en-US" sz="933" b="1">
                    <a:solidFill>
                      <a:srgbClr val="7F8FA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MONTHS</a:t>
                </a:r>
                <a:endParaRPr lang="en-US" sz="933"/>
              </a:p>
            </p:txBody>
          </p:sp>
          <p:sp>
            <p:nvSpPr>
              <p:cNvPr id="31" name="Shape 10">
                <a:extLst>
                  <a:ext uri="{FF2B5EF4-FFF2-40B4-BE49-F238E27FC236}">
                    <a16:creationId xmlns:a16="http://schemas.microsoft.com/office/drawing/2014/main" id="{52D72462-E72E-7123-6DD2-BA99E5BC27E3}"/>
                  </a:ext>
                </a:extLst>
              </p:cNvPr>
              <p:cNvSpPr/>
              <p:nvPr/>
            </p:nvSpPr>
            <p:spPr>
              <a:xfrm>
                <a:off x="11704320" y="6230112"/>
                <a:ext cx="48768" cy="219456"/>
              </a:xfrm>
              <a:prstGeom prst="rect">
                <a:avLst/>
              </a:prstGeom>
              <a:solidFill>
                <a:srgbClr val="7F8FA9"/>
              </a:solidFill>
              <a:ln w="12700">
                <a:solidFill>
                  <a:srgbClr val="7F8FA9"/>
                </a:solidFill>
                <a:prstDash val="solid"/>
              </a:ln>
            </p:spPr>
            <p:txBody>
              <a:bodyPr/>
              <a:lstStyle/>
              <a:p>
                <a:endParaRPr lang="de-DE" sz="2400"/>
              </a:p>
            </p:txBody>
          </p:sp>
          <p:sp>
            <p:nvSpPr>
              <p:cNvPr id="32" name="Text 11">
                <a:extLst>
                  <a:ext uri="{FF2B5EF4-FFF2-40B4-BE49-F238E27FC236}">
                    <a16:creationId xmlns:a16="http://schemas.microsoft.com/office/drawing/2014/main" id="{86D341FB-B812-5CD5-4A4E-975CE1DC5CBA}"/>
                  </a:ext>
                </a:extLst>
              </p:cNvPr>
              <p:cNvSpPr/>
              <p:nvPr/>
            </p:nvSpPr>
            <p:spPr>
              <a:xfrm>
                <a:off x="11301984" y="6437376"/>
                <a:ext cx="8534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933" b="1" dirty="0">
                    <a:solidFill>
                      <a:srgbClr val="7F8FA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6–18+</a:t>
                </a:r>
                <a:endParaRPr lang="en-US" sz="933" dirty="0"/>
              </a:p>
              <a:p>
                <a:pPr algn="ctr"/>
                <a:r>
                  <a:rPr lang="en-US" sz="933" b="1" dirty="0">
                    <a:solidFill>
                      <a:srgbClr val="7F8FA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MONTHS</a:t>
                </a:r>
                <a:endParaRPr lang="en-US" sz="933" dirty="0"/>
              </a:p>
            </p:txBody>
          </p:sp>
        </p:grp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553B55F5-A21D-0751-7D8B-C1A88D6D9AEE}"/>
                </a:ext>
              </a:extLst>
            </p:cNvPr>
            <p:cNvSpPr/>
            <p:nvPr/>
          </p:nvSpPr>
          <p:spPr>
            <a:xfrm>
              <a:off x="1265327" y="5642106"/>
              <a:ext cx="2440959" cy="313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>
                  <a:solidFill>
                    <a:schemeClr val="accent4">
                      <a:lumMod val="7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KICK OFF Workshop(s) &amp; Diagnosis</a:t>
              </a:r>
              <a:endParaRPr lang="en-US" sz="100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7" name="Text 19">
              <a:extLst>
                <a:ext uri="{FF2B5EF4-FFF2-40B4-BE49-F238E27FC236}">
                  <a16:creationId xmlns:a16="http://schemas.microsoft.com/office/drawing/2014/main" id="{9C0C582D-EAC9-4F64-6840-ECD740CFCD4D}"/>
                </a:ext>
              </a:extLst>
            </p:cNvPr>
            <p:cNvSpPr/>
            <p:nvPr/>
          </p:nvSpPr>
          <p:spPr>
            <a:xfrm>
              <a:off x="5388414" y="5686892"/>
              <a:ext cx="1517088" cy="313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>
                  <a:solidFill>
                    <a:schemeClr val="accent4">
                      <a:lumMod val="7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Activation Workshop &amp; Focus Sessions</a:t>
              </a:r>
              <a:endParaRPr lang="en-US" sz="100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8" name="Text 19">
              <a:extLst>
                <a:ext uri="{FF2B5EF4-FFF2-40B4-BE49-F238E27FC236}">
                  <a16:creationId xmlns:a16="http://schemas.microsoft.com/office/drawing/2014/main" id="{93474543-577E-112F-6362-CDA8007A790C}"/>
                </a:ext>
              </a:extLst>
            </p:cNvPr>
            <p:cNvSpPr/>
            <p:nvPr/>
          </p:nvSpPr>
          <p:spPr>
            <a:xfrm>
              <a:off x="9188501" y="5668481"/>
              <a:ext cx="1897968" cy="313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b="1">
                  <a:solidFill>
                    <a:schemeClr val="accent4">
                      <a:lumMod val="7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Focus Sessions / Workshops </a:t>
              </a:r>
              <a:endParaRPr lang="en-US" sz="100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sp>
        <p:nvSpPr>
          <p:cNvPr id="13" name="Shape 4">
            <a:extLst>
              <a:ext uri="{FF2B5EF4-FFF2-40B4-BE49-F238E27FC236}">
                <a16:creationId xmlns:a16="http://schemas.microsoft.com/office/drawing/2014/main" id="{CBA935FD-758A-1AE3-56C1-B38DD6858BE0}"/>
              </a:ext>
            </a:extLst>
          </p:cNvPr>
          <p:cNvSpPr/>
          <p:nvPr/>
        </p:nvSpPr>
        <p:spPr>
          <a:xfrm>
            <a:off x="403351" y="1270003"/>
            <a:ext cx="11558016" cy="24384"/>
          </a:xfrm>
          <a:prstGeom prst="rect">
            <a:avLst/>
          </a:prstGeom>
          <a:solidFill>
            <a:srgbClr val="D0E8E8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B609D398-B844-A624-4BD1-96C5C872FA20}"/>
              </a:ext>
            </a:extLst>
          </p:cNvPr>
          <p:cNvSpPr/>
          <p:nvPr/>
        </p:nvSpPr>
        <p:spPr>
          <a:xfrm>
            <a:off x="426720" y="5583210"/>
            <a:ext cx="11277600" cy="30576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>
              <a:solidFill>
                <a:schemeClr val="bg1"/>
              </a:solidFill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84BD22A6-7325-B4E9-3AA1-7E1178D8D747}"/>
              </a:ext>
            </a:extLst>
          </p:cNvPr>
          <p:cNvSpPr/>
          <p:nvPr/>
        </p:nvSpPr>
        <p:spPr>
          <a:xfrm>
            <a:off x="521724" y="5594362"/>
            <a:ext cx="3048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ACROSS ALL PHASES: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DCD57378-6CAC-4230-2195-F9BE2E88D039}"/>
              </a:ext>
            </a:extLst>
          </p:cNvPr>
          <p:cNvSpPr/>
          <p:nvPr/>
        </p:nvSpPr>
        <p:spPr>
          <a:xfrm>
            <a:off x="4913079" y="5573713"/>
            <a:ext cx="7924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Customized consulting projects </a:t>
            </a:r>
            <a:endParaRPr lang="en-US" sz="1067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0A1E-4426-FFB2-6D65-4A19CD85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">
            <a:extLst>
              <a:ext uri="{FF2B5EF4-FFF2-40B4-BE49-F238E27FC236}">
                <a16:creationId xmlns:a16="http://schemas.microsoft.com/office/drawing/2014/main" id="{76945E67-CF16-22A5-4487-40EDE722702E}"/>
              </a:ext>
            </a:extLst>
          </p:cNvPr>
          <p:cNvSpPr/>
          <p:nvPr/>
        </p:nvSpPr>
        <p:spPr>
          <a:xfrm>
            <a:off x="500378" y="3164673"/>
            <a:ext cx="5832238" cy="792000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E7174D6-014A-4E5C-ECEB-045B3F36BBD9}"/>
              </a:ext>
            </a:extLst>
          </p:cNvPr>
          <p:cNvSpPr/>
          <p:nvPr/>
        </p:nvSpPr>
        <p:spPr>
          <a:xfrm>
            <a:off x="0" y="0"/>
            <a:ext cx="1828800" cy="268224"/>
          </a:xfrm>
          <a:prstGeom prst="rect">
            <a:avLst/>
          </a:prstGeom>
          <a:solidFill>
            <a:srgbClr val="5AA2AE"/>
          </a:solidFill>
          <a:ln w="12700">
            <a:solidFill>
              <a:srgbClr val="5AA2A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B147F1-84A7-B700-311D-F271FF968D94}"/>
              </a:ext>
            </a:extLst>
          </p:cNvPr>
          <p:cNvSpPr/>
          <p:nvPr/>
        </p:nvSpPr>
        <p:spPr>
          <a:xfrm>
            <a:off x="73152" y="0"/>
            <a:ext cx="17556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4WARD EVOLUTION</a:t>
            </a:r>
            <a:endParaRPr lang="en-US" sz="933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3E1E22-B176-DED0-4AA4-43326ED13B00}"/>
              </a:ext>
            </a:extLst>
          </p:cNvPr>
          <p:cNvSpPr/>
          <p:nvPr/>
        </p:nvSpPr>
        <p:spPr>
          <a:xfrm>
            <a:off x="426720" y="341376"/>
            <a:ext cx="11338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5A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 partner that enables you – not replaces you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2DB2035-C8BD-F951-7C78-62C84644C283}"/>
              </a:ext>
            </a:extLst>
          </p:cNvPr>
          <p:cNvSpPr/>
          <p:nvPr/>
        </p:nvSpPr>
        <p:spPr>
          <a:xfrm>
            <a:off x="488420" y="1920423"/>
            <a:ext cx="5832238" cy="792000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E215D9C-D9EE-7460-6F17-C567D9AD563F}"/>
              </a:ext>
            </a:extLst>
          </p:cNvPr>
          <p:cNvSpPr/>
          <p:nvPr/>
        </p:nvSpPr>
        <p:spPr>
          <a:xfrm>
            <a:off x="494283" y="1560576"/>
            <a:ext cx="5824326" cy="341376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47269B-71E0-9536-F1C9-495482CACB12}"/>
              </a:ext>
            </a:extLst>
          </p:cNvPr>
          <p:cNvSpPr/>
          <p:nvPr/>
        </p:nvSpPr>
        <p:spPr>
          <a:xfrm>
            <a:off x="589590" y="1560576"/>
            <a:ext cx="350692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Human Development First</a:t>
            </a:r>
            <a:endParaRPr lang="en-US" sz="1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CBE7F4-8D4B-9907-9177-F6F6678736A7}"/>
              </a:ext>
            </a:extLst>
          </p:cNvPr>
          <p:cNvSpPr/>
          <p:nvPr/>
        </p:nvSpPr>
        <p:spPr>
          <a:xfrm>
            <a:off x="520763" y="1937560"/>
            <a:ext cx="5797846" cy="839406"/>
          </a:xfrm>
          <a:prstGeom prst="rect">
            <a:avLst/>
          </a:prstGeom>
          <a:noFill/>
          <a:ln/>
        </p:spPr>
        <p:txBody>
          <a:bodyPr wrap="square" lIns="50800" tIns="67733" rIns="67733" bIns="50800" rtlCol="0" anchor="t"/>
          <a:lstStyle/>
          <a:p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transformation is not a structural challenge – it is a human development challenge. We start with how people think, feel, and act.</a:t>
            </a:r>
            <a:endParaRPr lang="en-US" sz="140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354F268D-66FD-04CF-EBB4-E5A46EFE4682}"/>
              </a:ext>
            </a:extLst>
          </p:cNvPr>
          <p:cNvSpPr/>
          <p:nvPr/>
        </p:nvSpPr>
        <p:spPr>
          <a:xfrm>
            <a:off x="6647676" y="1560576"/>
            <a:ext cx="73152" cy="5040000"/>
          </a:xfrm>
          <a:prstGeom prst="rect">
            <a:avLst/>
          </a:prstGeom>
          <a:solidFill>
            <a:srgbClr val="5A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841A1AA7-7419-7221-78F4-F5CD105B8205}"/>
              </a:ext>
            </a:extLst>
          </p:cNvPr>
          <p:cNvSpPr txBox="1"/>
          <p:nvPr/>
        </p:nvSpPr>
        <p:spPr>
          <a:xfrm>
            <a:off x="6903945" y="171345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chemeClr val="accent5">
                    <a:lumMod val="50000"/>
                  </a:schemeClr>
                </a:solidFill>
                <a:latin typeface="+mj-lt"/>
              </a:rPr>
              <a:t>Anja</a:t>
            </a:r>
            <a:r>
              <a:rPr>
                <a:solidFill>
                  <a:schemeClr val="accent5">
                    <a:lumMod val="50000"/>
                  </a:schemeClr>
                </a:solidFill>
                <a:latin typeface="+mj-lt"/>
              </a:rPr>
              <a:t>   </a:t>
            </a:r>
            <a:r>
              <a:rPr lang="de-DE" sz="1000" i="1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endParaRPr sz="1000" i="1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A1FFA688-3EE0-0E0F-5C0C-66DA8A670673}"/>
              </a:ext>
            </a:extLst>
          </p:cNvPr>
          <p:cNvSpPr txBox="1"/>
          <p:nvPr/>
        </p:nvSpPr>
        <p:spPr>
          <a:xfrm>
            <a:off x="6903945" y="2094198"/>
            <a:ext cx="47996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950">
                <a:solidFill>
                  <a:srgbClr val="5A5A5A"/>
                </a:solidFill>
                <a:latin typeface="Calibri"/>
              </a:defRPr>
            </a:lvl1pPr>
          </a:lstStyle>
          <a:p>
            <a:r>
              <a:rPr lang="en-GB" sz="1050" noProof="1">
                <a:solidFill>
                  <a:schemeClr val="tx1"/>
                </a:solidFill>
                <a:latin typeface="+mj-lt"/>
              </a:rPr>
              <a:t>Pharmacist and PhD in Pharmaceutical Biology, DBVC certified coach and transformation leader. Specialising in clinical development, GxP compliance, decentralised clinical trials and agile leadership of high-performing teams.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30057218-BD70-5732-B867-64115FE60F2C}"/>
              </a:ext>
            </a:extLst>
          </p:cNvPr>
          <p:cNvSpPr txBox="1"/>
          <p:nvPr/>
        </p:nvSpPr>
        <p:spPr>
          <a:xfrm>
            <a:off x="6903944" y="2866390"/>
            <a:ext cx="1088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chemeClr val="accent5">
                    <a:lumMod val="50000"/>
                  </a:schemeClr>
                </a:solidFill>
                <a:latin typeface="+mj-lt"/>
              </a:rPr>
              <a:t>Karin</a:t>
            </a:r>
            <a:r>
              <a:rPr>
                <a:solidFill>
                  <a:schemeClr val="accent5">
                    <a:lumMod val="50000"/>
                  </a:schemeClr>
                </a:solidFill>
                <a:latin typeface="+mj-lt"/>
              </a:rPr>
              <a:t>   </a:t>
            </a:r>
            <a:r>
              <a:rPr lang="de-DE" sz="1000" i="1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endParaRPr sz="1000" i="1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71294439-EBCD-632A-6891-56B74CAB926B}"/>
              </a:ext>
            </a:extLst>
          </p:cNvPr>
          <p:cNvSpPr txBox="1"/>
          <p:nvPr/>
        </p:nvSpPr>
        <p:spPr>
          <a:xfrm>
            <a:off x="6903944" y="3177942"/>
            <a:ext cx="461072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950">
                <a:solidFill>
                  <a:srgbClr val="5A5A5A"/>
                </a:solidFill>
                <a:latin typeface="Calibri"/>
              </a:defRPr>
            </a:lvl1pPr>
          </a:lstStyle>
          <a:p>
            <a:r>
              <a:rPr lang="en-GB" sz="1050" noProof="1">
                <a:solidFill>
                  <a:schemeClr val="tx1"/>
                </a:solidFill>
                <a:latin typeface="+mj-lt"/>
              </a:rPr>
              <a:t>Pharmacist, ICF certified coach and transformation leader. Specialising in production, HR, marketing and customer excellence, with deep expertise in building and leading high-performing teams.</a:t>
            </a: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620727B5-04BD-C6FD-719F-E9FB1D9E8E5B}"/>
              </a:ext>
            </a:extLst>
          </p:cNvPr>
          <p:cNvSpPr txBox="1"/>
          <p:nvPr/>
        </p:nvSpPr>
        <p:spPr>
          <a:xfrm>
            <a:off x="6880918" y="3937091"/>
            <a:ext cx="1399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chemeClr val="accent5">
                    <a:lumMod val="50000"/>
                  </a:schemeClr>
                </a:solidFill>
                <a:latin typeface="+mj-lt"/>
              </a:rPr>
              <a:t>Stefanie</a:t>
            </a:r>
            <a:r>
              <a:rPr>
                <a:solidFill>
                  <a:schemeClr val="accent5">
                    <a:lumMod val="50000"/>
                  </a:schemeClr>
                </a:solidFill>
                <a:latin typeface="+mj-lt"/>
              </a:rPr>
              <a:t>   </a:t>
            </a:r>
            <a:r>
              <a:rPr lang="de-DE" sz="1000" i="1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endParaRPr sz="1000" i="1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7E8F8EB9-E96A-A70F-0FD6-385C73F1B38E}"/>
              </a:ext>
            </a:extLst>
          </p:cNvPr>
          <p:cNvSpPr txBox="1"/>
          <p:nvPr/>
        </p:nvSpPr>
        <p:spPr>
          <a:xfrm>
            <a:off x="6903945" y="4276332"/>
            <a:ext cx="48613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noProof="1">
                <a:latin typeface="+mj-lt"/>
              </a:rPr>
              <a:t>Communication Scientist, </a:t>
            </a:r>
            <a:r>
              <a:rPr lang="en-GB" sz="1050" noProof="1"/>
              <a:t>DBVC</a:t>
            </a:r>
            <a:r>
              <a:rPr lang="en-GB" sz="1050" noProof="1">
                <a:latin typeface="+mj-lt"/>
              </a:rPr>
              <a:t> certified coach and transformation leader. Specialising in digital and organisational transformation, AI enablement, agile ways of working, community building and event management.</a:t>
            </a: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7FF85C39-83D6-AF15-4ABF-4BF4B52BF462}"/>
              </a:ext>
            </a:extLst>
          </p:cNvPr>
          <p:cNvSpPr txBox="1"/>
          <p:nvPr/>
        </p:nvSpPr>
        <p:spPr>
          <a:xfrm>
            <a:off x="6880918" y="5323458"/>
            <a:ext cx="134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chemeClr val="accent5">
                    <a:lumMod val="50000"/>
                  </a:schemeClr>
                </a:solidFill>
                <a:latin typeface="+mj-lt"/>
              </a:rPr>
              <a:t>Thomas</a:t>
            </a:r>
            <a:r>
              <a:rPr>
                <a:solidFill>
                  <a:schemeClr val="accent5">
                    <a:lumMod val="50000"/>
                  </a:schemeClr>
                </a:solidFill>
                <a:latin typeface="+mj-lt"/>
              </a:rPr>
              <a:t>   </a:t>
            </a:r>
            <a:r>
              <a:rPr lang="de-DE" sz="1000" i="1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endParaRPr sz="1000" i="1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44979D4E-6125-E00E-D436-922AC40A90F8}"/>
              </a:ext>
            </a:extLst>
          </p:cNvPr>
          <p:cNvSpPr txBox="1"/>
          <p:nvPr/>
        </p:nvSpPr>
        <p:spPr>
          <a:xfrm>
            <a:off x="6916757" y="5639784"/>
            <a:ext cx="4800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1050">
                <a:latin typeface="+mj-lt"/>
              </a:defRPr>
            </a:lvl1pPr>
          </a:lstStyle>
          <a:p>
            <a:r>
              <a:rPr lang="de-DE" dirty="0"/>
              <a:t>Engineer, </a:t>
            </a:r>
            <a:r>
              <a:rPr lang="en-GB" noProof="1"/>
              <a:t>ICF </a:t>
            </a:r>
            <a:r>
              <a:rPr lang="de-DE" dirty="0" err="1"/>
              <a:t>certified</a:t>
            </a:r>
            <a:r>
              <a:rPr lang="de-DE" dirty="0"/>
              <a:t> </a:t>
            </a:r>
            <a:r>
              <a:rPr lang="de-DE" dirty="0" err="1"/>
              <a:t>coach</a:t>
            </a:r>
            <a:r>
              <a:rPr lang="de-DE" dirty="0"/>
              <a:t>. Expert in organisational </a:t>
            </a:r>
            <a:r>
              <a:rPr lang="de-DE" dirty="0" err="1"/>
              <a:t>transformation</a:t>
            </a:r>
            <a:r>
              <a:rPr lang="de-DE" dirty="0"/>
              <a:t>, </a:t>
            </a:r>
            <a:r>
              <a:rPr lang="de-DE" dirty="0" err="1"/>
              <a:t>leadership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, operational excellence and plant </a:t>
            </a:r>
            <a:r>
              <a:rPr lang="de-DE" dirty="0" err="1"/>
              <a:t>management</a:t>
            </a:r>
            <a:r>
              <a:rPr lang="de-DE" dirty="0"/>
              <a:t>.</a:t>
            </a: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00444A51-7DF1-3042-CB24-731B47AACC64}"/>
              </a:ext>
            </a:extLst>
          </p:cNvPr>
          <p:cNvSpPr/>
          <p:nvPr/>
        </p:nvSpPr>
        <p:spPr>
          <a:xfrm>
            <a:off x="660003" y="2823058"/>
            <a:ext cx="350692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Enabling, Not Advising</a:t>
            </a:r>
            <a:endParaRPr lang="en-US" sz="100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6AA14280-8286-81CE-E6CD-8F97B7BD72D4}"/>
              </a:ext>
            </a:extLst>
          </p:cNvPr>
          <p:cNvSpPr/>
          <p:nvPr/>
        </p:nvSpPr>
        <p:spPr>
          <a:xfrm>
            <a:off x="549147" y="3193944"/>
            <a:ext cx="5776289" cy="699168"/>
          </a:xfrm>
          <a:prstGeom prst="rect">
            <a:avLst/>
          </a:prstGeom>
          <a:noFill/>
          <a:ln/>
        </p:spPr>
        <p:txBody>
          <a:bodyPr wrap="square" lIns="50800" tIns="67733" rIns="67733" bIns="50800" rtlCol="0" anchor="t"/>
          <a:lstStyle/>
          <a:p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bring solutions. We build the capacity of your people to create their own. Ownership, accountability, and creative leadership grow from within.</a:t>
            </a:r>
            <a:endParaRPr lang="en-US" sz="140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A7B26273-AF5E-ECC5-AF2B-29DB848D1839}"/>
              </a:ext>
            </a:extLst>
          </p:cNvPr>
          <p:cNvSpPr/>
          <p:nvPr/>
        </p:nvSpPr>
        <p:spPr>
          <a:xfrm>
            <a:off x="489660" y="2811106"/>
            <a:ext cx="5838784" cy="341376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FCA3A8B4-16AE-DB41-EC81-24B78536149A}"/>
              </a:ext>
            </a:extLst>
          </p:cNvPr>
          <p:cNvSpPr/>
          <p:nvPr/>
        </p:nvSpPr>
        <p:spPr>
          <a:xfrm>
            <a:off x="544525" y="2823806"/>
            <a:ext cx="350692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Enabling, Not Advising</a:t>
            </a:r>
            <a:endParaRPr lang="en-US" sz="100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5215971D-B2D7-269D-73DA-8AE2220803ED}"/>
              </a:ext>
            </a:extLst>
          </p:cNvPr>
          <p:cNvSpPr/>
          <p:nvPr/>
        </p:nvSpPr>
        <p:spPr>
          <a:xfrm>
            <a:off x="487454" y="5639784"/>
            <a:ext cx="5838529" cy="792000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B25ADE60-EB8A-7E18-B3C4-1FF354B944E0}"/>
              </a:ext>
            </a:extLst>
          </p:cNvPr>
          <p:cNvSpPr/>
          <p:nvPr/>
        </p:nvSpPr>
        <p:spPr>
          <a:xfrm>
            <a:off x="494283" y="4405088"/>
            <a:ext cx="5832238" cy="792000"/>
          </a:xfrm>
          <a:prstGeom prst="rect">
            <a:avLst/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5CDB31B3-7745-E3E6-B4BA-0C30E42598D2}"/>
              </a:ext>
            </a:extLst>
          </p:cNvPr>
          <p:cNvSpPr/>
          <p:nvPr/>
        </p:nvSpPr>
        <p:spPr>
          <a:xfrm>
            <a:off x="501111" y="4061636"/>
            <a:ext cx="5824326" cy="341376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DB4693BF-C177-03ED-D077-4AC6A2450D28}"/>
              </a:ext>
            </a:extLst>
          </p:cNvPr>
          <p:cNvSpPr/>
          <p:nvPr/>
        </p:nvSpPr>
        <p:spPr>
          <a:xfrm>
            <a:off x="596418" y="4061636"/>
            <a:ext cx="350692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Real Work. Real Cases.</a:t>
            </a:r>
            <a:endParaRPr lang="en-US" sz="100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6953DB3E-E450-97BB-D983-DCA4AFD5E4DD}"/>
              </a:ext>
            </a:extLst>
          </p:cNvPr>
          <p:cNvSpPr/>
          <p:nvPr/>
        </p:nvSpPr>
        <p:spPr>
          <a:xfrm>
            <a:off x="520762" y="4451780"/>
            <a:ext cx="5797847" cy="839406"/>
          </a:xfrm>
          <a:prstGeom prst="rect">
            <a:avLst/>
          </a:prstGeom>
          <a:noFill/>
          <a:ln/>
        </p:spPr>
        <p:txBody>
          <a:bodyPr wrap="square" lIns="50800" tIns="67733" rIns="67733" bIns="50800" rtlCol="0" anchor="t"/>
          <a:lstStyle/>
          <a:p>
            <a:r>
              <a:rPr lang="en-US" sz="140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on actual challenges – not hypothetical scenarios. Every format is designed for transfer: insights must land in real decisions and daily behavior.</a:t>
            </a:r>
            <a:endParaRPr lang="en-US" sz="140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DB62D5C6-C48E-8A8F-8D36-C375E01558EE}"/>
              </a:ext>
            </a:extLst>
          </p:cNvPr>
          <p:cNvSpPr/>
          <p:nvPr/>
        </p:nvSpPr>
        <p:spPr>
          <a:xfrm>
            <a:off x="611966" y="5360063"/>
            <a:ext cx="350692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Enabling, Not Advising</a:t>
            </a:r>
            <a:endParaRPr lang="en-US" sz="100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2B87CC7A-A472-05C0-05C5-1CBF1F541F21}"/>
              </a:ext>
            </a:extLst>
          </p:cNvPr>
          <p:cNvSpPr/>
          <p:nvPr/>
        </p:nvSpPr>
        <p:spPr>
          <a:xfrm>
            <a:off x="530065" y="5677577"/>
            <a:ext cx="5795371" cy="699168"/>
          </a:xfrm>
          <a:prstGeom prst="rect">
            <a:avLst/>
          </a:prstGeom>
          <a:noFill/>
          <a:ln/>
        </p:spPr>
        <p:txBody>
          <a:bodyPr wrap="square" lIns="50800" tIns="67733" rIns="67733" bIns="50800" rtlCol="0" anchor="t"/>
          <a:lstStyle/>
          <a:p>
            <a:r>
              <a:rPr lang="en-US" sz="1400" noProof="1">
                <a:solidFill>
                  <a:srgbClr val="404040"/>
                </a:solidFill>
                <a:latin typeface="Arial" pitchFamily="34" charset="0"/>
                <a:cs typeface="Arial" pitchFamily="34" charset="-120"/>
              </a:rPr>
              <a:t>We combine proven frameworks from leadership science, behavioral psychology, and agile practice into tailored interventions — field-tested, grounded in research, and refined through real-world impact*.</a:t>
            </a:r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87F3784B-73AB-E2C7-4AC7-CDD26CC13822}"/>
              </a:ext>
            </a:extLst>
          </p:cNvPr>
          <p:cNvSpPr/>
          <p:nvPr/>
        </p:nvSpPr>
        <p:spPr>
          <a:xfrm>
            <a:off x="501111" y="5298408"/>
            <a:ext cx="5838784" cy="341376"/>
          </a:xfrm>
          <a:prstGeom prst="rect">
            <a:avLst/>
          </a:prstGeom>
          <a:solidFill>
            <a:srgbClr val="2D5157"/>
          </a:solidFill>
          <a:ln w="12700">
            <a:solidFill>
              <a:srgbClr val="2D5157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C5E60F51-4879-CDBA-CD0D-B6D518087371}"/>
              </a:ext>
            </a:extLst>
          </p:cNvPr>
          <p:cNvSpPr/>
          <p:nvPr/>
        </p:nvSpPr>
        <p:spPr>
          <a:xfrm>
            <a:off x="589590" y="5327138"/>
            <a:ext cx="350692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3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Evidence-based, field-tested.</a:t>
            </a:r>
            <a:endParaRPr lang="en-US" sz="100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87CC392C-DD70-A4BC-853B-29817818B4FD}"/>
              </a:ext>
            </a:extLst>
          </p:cNvPr>
          <p:cNvSpPr/>
          <p:nvPr/>
        </p:nvSpPr>
        <p:spPr>
          <a:xfrm>
            <a:off x="341376" y="1295935"/>
            <a:ext cx="11558016" cy="24384"/>
          </a:xfrm>
          <a:prstGeom prst="rect">
            <a:avLst/>
          </a:prstGeom>
          <a:solidFill>
            <a:srgbClr val="D0E8E8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6108FC13-6F8B-B96C-62ED-33E54DE2B864}"/>
              </a:ext>
            </a:extLst>
          </p:cNvPr>
          <p:cNvSpPr txBox="1"/>
          <p:nvPr/>
        </p:nvSpPr>
        <p:spPr>
          <a:xfrm>
            <a:off x="501111" y="6566583"/>
            <a:ext cx="6102296" cy="23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de-DE"/>
            </a:defPPr>
            <a:lvl1pPr>
              <a:defRPr sz="933" i="1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sz="800" noProof="1"/>
              <a:t>*Exemplary: Anderson &amp; Adams; Edmonson;  Kegan &amp; Lahey; Lenconi; Rosenberg; Scharmer;  Sutherland &amp; Schwaber </a:t>
            </a:r>
          </a:p>
        </p:txBody>
      </p:sp>
    </p:spTree>
    <p:extLst>
      <p:ext uri="{BB962C8B-B14F-4D97-AF65-F5344CB8AC3E}">
        <p14:creationId xmlns:p14="http://schemas.microsoft.com/office/powerpoint/2010/main" val="1320992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4A8691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3" name="Shape 1"/>
          <p:cNvSpPr/>
          <p:nvPr/>
        </p:nvSpPr>
        <p:spPr>
          <a:xfrm>
            <a:off x="3048000" y="2438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4" name="Shape 2"/>
          <p:cNvSpPr/>
          <p:nvPr/>
        </p:nvSpPr>
        <p:spPr>
          <a:xfrm>
            <a:off x="3657600" y="4876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5" name="Shape 3"/>
          <p:cNvSpPr/>
          <p:nvPr/>
        </p:nvSpPr>
        <p:spPr>
          <a:xfrm>
            <a:off x="4267200" y="1828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6" name="Shape 4"/>
          <p:cNvSpPr/>
          <p:nvPr/>
        </p:nvSpPr>
        <p:spPr>
          <a:xfrm>
            <a:off x="4876800" y="6096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" name="Shape 5"/>
          <p:cNvSpPr/>
          <p:nvPr/>
        </p:nvSpPr>
        <p:spPr>
          <a:xfrm>
            <a:off x="5486400" y="3048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8" name="Shape 6"/>
          <p:cNvSpPr/>
          <p:nvPr/>
        </p:nvSpPr>
        <p:spPr>
          <a:xfrm>
            <a:off x="6096000" y="5486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9" name="Shape 7"/>
          <p:cNvSpPr/>
          <p:nvPr/>
        </p:nvSpPr>
        <p:spPr>
          <a:xfrm>
            <a:off x="6705600" y="146304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0" name="Shape 8"/>
          <p:cNvSpPr/>
          <p:nvPr/>
        </p:nvSpPr>
        <p:spPr>
          <a:xfrm>
            <a:off x="7315200" y="4876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1" name="Shape 9"/>
          <p:cNvSpPr/>
          <p:nvPr/>
        </p:nvSpPr>
        <p:spPr>
          <a:xfrm>
            <a:off x="7924800" y="2438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2" name="Shape 10"/>
          <p:cNvSpPr/>
          <p:nvPr/>
        </p:nvSpPr>
        <p:spPr>
          <a:xfrm>
            <a:off x="8534400" y="6096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3" name="Shape 11"/>
          <p:cNvSpPr/>
          <p:nvPr/>
        </p:nvSpPr>
        <p:spPr>
          <a:xfrm>
            <a:off x="9144000" y="3657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4" name="Shape 12"/>
          <p:cNvSpPr/>
          <p:nvPr/>
        </p:nvSpPr>
        <p:spPr>
          <a:xfrm>
            <a:off x="3901440" y="8534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5" name="Shape 13"/>
          <p:cNvSpPr/>
          <p:nvPr/>
        </p:nvSpPr>
        <p:spPr>
          <a:xfrm>
            <a:off x="4632960" y="9144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6" name="Shape 14"/>
          <p:cNvSpPr/>
          <p:nvPr/>
        </p:nvSpPr>
        <p:spPr>
          <a:xfrm>
            <a:off x="5242560" y="7315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7" name="Shape 15"/>
          <p:cNvSpPr/>
          <p:nvPr/>
        </p:nvSpPr>
        <p:spPr>
          <a:xfrm>
            <a:off x="5852160" y="8534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8" name="Shape 16"/>
          <p:cNvSpPr/>
          <p:nvPr/>
        </p:nvSpPr>
        <p:spPr>
          <a:xfrm>
            <a:off x="6461760" y="6705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19" name="Shape 17"/>
          <p:cNvSpPr/>
          <p:nvPr/>
        </p:nvSpPr>
        <p:spPr>
          <a:xfrm>
            <a:off x="7071360" y="9144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0" name="Shape 18"/>
          <p:cNvSpPr/>
          <p:nvPr/>
        </p:nvSpPr>
        <p:spPr>
          <a:xfrm>
            <a:off x="7680960" y="7315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1" name="Shape 19"/>
          <p:cNvSpPr/>
          <p:nvPr/>
        </p:nvSpPr>
        <p:spPr>
          <a:xfrm>
            <a:off x="8290560" y="8534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2" name="Shape 20"/>
          <p:cNvSpPr/>
          <p:nvPr/>
        </p:nvSpPr>
        <p:spPr>
          <a:xfrm>
            <a:off x="8900160" y="6705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3" name="Shape 21"/>
          <p:cNvSpPr/>
          <p:nvPr/>
        </p:nvSpPr>
        <p:spPr>
          <a:xfrm>
            <a:off x="3413760" y="6096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4" name="Shape 22"/>
          <p:cNvSpPr/>
          <p:nvPr/>
        </p:nvSpPr>
        <p:spPr>
          <a:xfrm>
            <a:off x="4389120" y="4267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5" name="Shape 23"/>
          <p:cNvSpPr/>
          <p:nvPr/>
        </p:nvSpPr>
        <p:spPr>
          <a:xfrm>
            <a:off x="5608320" y="4876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6" name="Shape 24"/>
          <p:cNvSpPr/>
          <p:nvPr/>
        </p:nvSpPr>
        <p:spPr>
          <a:xfrm>
            <a:off x="6827520" y="3657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7" name="Shape 25"/>
          <p:cNvSpPr/>
          <p:nvPr/>
        </p:nvSpPr>
        <p:spPr>
          <a:xfrm>
            <a:off x="8046720" y="5486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8" name="Shape 26"/>
          <p:cNvSpPr/>
          <p:nvPr/>
        </p:nvSpPr>
        <p:spPr>
          <a:xfrm>
            <a:off x="9509760" y="1828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9" name="Shape 27"/>
          <p:cNvSpPr/>
          <p:nvPr/>
        </p:nvSpPr>
        <p:spPr>
          <a:xfrm>
            <a:off x="9753600" y="5486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30" name="Shape 28"/>
          <p:cNvSpPr/>
          <p:nvPr/>
        </p:nvSpPr>
        <p:spPr>
          <a:xfrm>
            <a:off x="10119360" y="3048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31" name="Shape 29"/>
          <p:cNvSpPr/>
          <p:nvPr/>
        </p:nvSpPr>
        <p:spPr>
          <a:xfrm>
            <a:off x="2682240" y="4876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32" name="Shape 30"/>
          <p:cNvSpPr/>
          <p:nvPr/>
        </p:nvSpPr>
        <p:spPr>
          <a:xfrm>
            <a:off x="3291840" y="8534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33" name="Text 31"/>
          <p:cNvSpPr/>
          <p:nvPr/>
        </p:nvSpPr>
        <p:spPr>
          <a:xfrm>
            <a:off x="975360" y="14020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>
                <a:solidFill>
                  <a:schemeClr val="accent5"/>
                </a:solidFill>
                <a:latin typeface="+mj-lt"/>
                <a:ea typeface="Georgia" pitchFamily="34" charset="-122"/>
                <a:cs typeface="Georgia" pitchFamily="34" charset="-120"/>
              </a:rPr>
              <a:t>4ward evolution</a:t>
            </a:r>
            <a:endParaRPr lang="en-US" sz="600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828800" y="2499360"/>
            <a:ext cx="853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transform your company.</a:t>
            </a:r>
            <a:endParaRPr lang="en-US" sz="2000">
              <a:solidFill>
                <a:schemeClr val="accent5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200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empower you to do it yourself.</a:t>
            </a:r>
            <a:endParaRPr lang="en-US" sz="2000">
              <a:solidFill>
                <a:schemeClr val="accent5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267200" y="3596640"/>
            <a:ext cx="36576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6" name="Text 34"/>
          <p:cNvSpPr/>
          <p:nvPr/>
        </p:nvSpPr>
        <p:spPr>
          <a:xfrm>
            <a:off x="3169920" y="3840480"/>
            <a:ext cx="195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4511040" y="4463920"/>
            <a:ext cx="463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de-DE" dirty="0">
              <a:solidFill>
                <a:schemeClr val="accent5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3169920" y="4279392"/>
            <a:ext cx="195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3169920" y="4718304"/>
            <a:ext cx="195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3169920" y="5157216"/>
            <a:ext cx="195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3169920" y="5596128"/>
            <a:ext cx="195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0" y="6364224"/>
            <a:ext cx="12192000" cy="493776"/>
          </a:xfrm>
          <a:prstGeom prst="rect">
            <a:avLst/>
          </a:prstGeom>
          <a:solidFill>
            <a:srgbClr val="4A8691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47" name="Text 45"/>
          <p:cNvSpPr/>
          <p:nvPr/>
        </p:nvSpPr>
        <p:spPr>
          <a:xfrm>
            <a:off x="609600" y="6364224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4ward evolution GmbH  |  Coaching &amp; Consulting  |  info@4wardevolution.com</a:t>
            </a:r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D3CB7564-D61A-85D7-49AC-2EE0088744E6}"/>
              </a:ext>
            </a:extLst>
          </p:cNvPr>
          <p:cNvSpPr/>
          <p:nvPr/>
        </p:nvSpPr>
        <p:spPr>
          <a:xfrm>
            <a:off x="3742944" y="3721410"/>
            <a:ext cx="463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Anja Milde</a:t>
            </a:r>
            <a:endParaRPr lang="en-US" sz="1600">
              <a:solidFill>
                <a:schemeClr val="accent5"/>
              </a:solidFill>
            </a:endParaRPr>
          </a:p>
        </p:txBody>
      </p:sp>
      <p:sp>
        <p:nvSpPr>
          <p:cNvPr id="49" name="Text 37">
            <a:extLst>
              <a:ext uri="{FF2B5EF4-FFF2-40B4-BE49-F238E27FC236}">
                <a16:creationId xmlns:a16="http://schemas.microsoft.com/office/drawing/2014/main" id="{AA978BCA-5E65-5440-9392-029AF581DEA9}"/>
              </a:ext>
            </a:extLst>
          </p:cNvPr>
          <p:cNvSpPr/>
          <p:nvPr/>
        </p:nvSpPr>
        <p:spPr>
          <a:xfrm>
            <a:off x="3742944" y="4160322"/>
            <a:ext cx="463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Karin Göhre</a:t>
            </a:r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58D239D9-5C14-86E7-0A0C-CADBFB6E325D}"/>
              </a:ext>
            </a:extLst>
          </p:cNvPr>
          <p:cNvSpPr/>
          <p:nvPr/>
        </p:nvSpPr>
        <p:spPr>
          <a:xfrm>
            <a:off x="3742944" y="4599234"/>
            <a:ext cx="463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Stefanie Ebeling </a:t>
            </a:r>
            <a:endParaRPr lang="en-US" sz="1600">
              <a:solidFill>
                <a:schemeClr val="accent5"/>
              </a:solidFill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B153FE52-3E88-20B5-4C98-341B301FD6F4}"/>
              </a:ext>
            </a:extLst>
          </p:cNvPr>
          <p:cNvSpPr/>
          <p:nvPr/>
        </p:nvSpPr>
        <p:spPr>
          <a:xfrm>
            <a:off x="3742944" y="5038146"/>
            <a:ext cx="463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Schubert </a:t>
            </a:r>
            <a:endParaRPr lang="en-US"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armes Blau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1794</Words>
  <Application>Microsoft Office PowerPoint</Application>
  <PresentationFormat>Breitbild</PresentationFormat>
  <Paragraphs>258</Paragraphs>
  <Slides>10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</vt:lpstr>
      <vt:lpstr>4ward evolution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Stefanie Ebeling</dc:creator>
  <cp:lastModifiedBy>Karin Göhre</cp:lastModifiedBy>
  <cp:revision>2</cp:revision>
  <dcterms:created xsi:type="dcterms:W3CDTF">2026-03-28T13:06:34Z</dcterms:created>
  <dcterms:modified xsi:type="dcterms:W3CDTF">2026-04-19T10:19:47Z</dcterms:modified>
</cp:coreProperties>
</file>